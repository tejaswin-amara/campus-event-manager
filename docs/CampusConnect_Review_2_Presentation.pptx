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panel members and evaluators. Welcome to the Review 2 presentation of our capstone project, CampusConnect. </a:t>
            </a:r>
          </a:p>
          <a:p/>
          <a:p>
            <a:r>
              <a:t>In Review 1, we defined our project title, problem scope, and preliminary system architecture. Today, in Review 2, we present our working technical implementation: our modular monolith architecture, our completed frontend interfaces and forms, our 3NF normalized database schema and ER design, live sample database records, and our engineering solutions to concurrency and migration challenges. </a:t>
            </a:r>
          </a:p>
          <a:p/>
          <a:p>
            <a:r>
              <a:t>Let us begin by revisiting the problem statement and existing system gaps.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we analyze the core problem motivating CampusConnect. In colleges today, event information is chaotic. Club leads circulate Google forms across unofficial group chats, leading to lost links, fraudulent pages, and missed deadlines. Furthermore, organizers have no real-time telemetry into venue capacity or student interest.</a:t>
            </a:r>
          </a:p>
          <a:p/>
          <a:p>
            <a:r>
              <a:t>CampusConnect resolves these problems by providing an authoritative single source of truth. Notice that we enforce server-side validation on external links, and we use pessimistic locking to prevent race conditions during interest registration.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3, we detail our technical objectives and explicit scope boundaries. Our goal is to engineer an enterprise-grade modular monolith using Java 25, Spring Boot 4, and MySQL 8.4 LTS. </a:t>
            </a:r>
          </a:p>
          <a:p/>
          <a:p>
            <a:r>
              <a:t>Importantly, we highlight an honest scope boundary: our application currently tracks student interest and directs them to authoritative campus registration links. We do not claim to run an entire payment or ticket-scanning system in this sprint; those are clearly mapped as Sprint 3 and future bounded evolution paths.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presents the four technological pillars of our proposed system:</a:t>
            </a:r>
          </a:p>
          <a:p>
            <a:r>
              <a:t>First, a Modular Monolith architecture that allows fast, reliable deployments without microservice network overhead.</a:t>
            </a:r>
          </a:p>
          <a:p>
            <a:r>
              <a:t>Second, Zero-Trust security featuring BCrypt, CSRF guards, and Bucket4j rate limiting against brute-force attacks.</a:t>
            </a:r>
          </a:p>
          <a:p>
            <a:r>
              <a:t>Third, relational integrity with Flyway migrations and row-level pessimistic locking.</a:t>
            </a:r>
          </a:p>
          <a:p>
            <a:r>
              <a:t>Fourth, intelligent discovery with explainable upcoming recommendations and Prometheus telemetry.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5, we show the complete System Architecture following the C4 container model. </a:t>
            </a:r>
          </a:p>
          <a:p/>
          <a:p>
            <a:r>
              <a:t>On the left is our architectural diagram: requests enter from Student and Admin browsers into our Spring Boot application container running on Java 25. The request passes through our Security Interceptor chain, which evaluates BCrypt credentials and Bucket4j rate limits. It is then routed to the relevant Controller and Service layer. </a:t>
            </a:r>
          </a:p>
          <a:p/>
          <a:p>
            <a:r>
              <a:t>The service layer interacts with Spring Data JPA repositories, which read and write to MySQL 8.4 LTS. Crucially, Flyway migrations V1 through V3 run before Hibernate validation, preventing any uncontrolled schema drift.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outlines the four core functional modules of CampusConnect:</a:t>
            </a:r>
          </a:p>
          <a:p>
            <a:r>
              <a:t>Module 1 handles Identity and Access Control with role-based segregation and rate limiting.</a:t>
            </a:r>
          </a:p>
          <a:p>
            <a:r>
              <a:t>Module 2 delivers Event Discovery, providing search, category filtering, and event detail views.</a:t>
            </a:r>
          </a:p>
          <a:p>
            <a:r>
              <a:t>Module 3 is our Registration and Interest Engine, protecting data integrity with database unique constraints and row-level locks.</a:t>
            </a:r>
          </a:p>
          <a:p>
            <a:r>
              <a:t>Module 4 is the Admin Control Plane, providing administrative CRUD operations, image uploads, and CSV exports.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into our technical demonstration, Slide 7 showcases our implemented frontend designs. </a:t>
            </a:r>
          </a:p>
          <a:p/>
          <a:p>
            <a:r>
              <a:t>On the left is the Student Event Catalogue. Notice the dark theme engineered for high contrast and readability: students can instantly search events, click category filter pills (Technical, Cultural, Sports), and see upcoming recommended events.</a:t>
            </a:r>
          </a:p>
          <a:p/>
          <a:p>
            <a:r>
              <a:t>On the right is the Admin Authentication screen. It features a modern glassmorphic card design with input validation and clear feedback regarding rate limiting and security status.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demonstrates the administrative operational interface. </a:t>
            </a:r>
          </a:p>
          <a:p/>
          <a:p>
            <a:r>
              <a:t>On the left is the Admin Control Plane. It provides administrators with live KPI cards tracking total events, student interest count, and capacity metrics. From this table, administrators can search records or trigger a one-click CSV export for faculty reporting.</a:t>
            </a:r>
          </a:p>
          <a:p/>
          <a:p>
            <a:r>
              <a:t>On the right is the Create Event modal dialog. It enforces strict client-side and server-side validation: end times must be after start times, capacities must be positive integers, and URLs must follow valid HTTP/HTTPS schemes.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9, we dive into our database engineering. </a:t>
            </a:r>
          </a:p>
          <a:p>
            <a:r>
              <a:t>We strictly adhere to Third Normal Form (3NF). Notice how the schema isolates users from events, using the associative `registrations` table to represent user interest.</a:t>
            </a:r>
          </a:p>
          <a:p/>
          <a:p>
            <a:r>
              <a:t>Crucially, our database is not created manually or mutated by Hibernate. Instead, we use Flyway versioned migrations V1, V2, and V3 on MySQL 8.4 LTS, running with Hibernate in validate mode. This ensures that the code and schema remain strictly synchronized in CI and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presents our Entity-Relationship (ER) diagram. </a:t>
            </a:r>
          </a:p>
          <a:p>
            <a:r>
              <a:t>We have three core entities: USERS, EVENTS, and the associative entity REGISTRATIONS.</a:t>
            </a:r>
          </a:p>
          <a:p/>
          <a:p>
            <a:r>
              <a:t>Examining the cardinalities: one user can have many registrations (1 to N), and one event can have many registrations (1 to N). </a:t>
            </a:r>
          </a:p>
          <a:p>
            <a:r>
              <a:t>Notice the highlighted compound unique constraint: `UNIQUE (user_id, event_id)`. This prevents duplicate entries at the database level. In addition, we apply foreign key cascades so that deleting an event cleanly cleans up associated interest rows.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shows the exact relational Data Definition Language (DDL) specifications. </a:t>
            </a:r>
          </a:p>
          <a:p>
            <a:r>
              <a:t>Notice the exact constraints implemented:</a:t>
            </a:r>
          </a:p>
          <a:p>
            <a:r>
              <a:t>In the `users` table: passwords are sized at VARCHAR(255) to accommodate BCrypt and future Argon2 encoders.</a:t>
            </a:r>
          </a:p>
          <a:p>
            <a:r>
              <a:t>In the `events` table: we enforce `CHECK (max_capacity &gt; 0)` and `CHECK (end_date_time &gt; date_time)`. We also index `(date_time)` and `(category, date_time)` to ensure fast queries.</a:t>
            </a:r>
          </a:p>
          <a:p>
            <a:r>
              <a:t>In the `registrations` table: foreign keys cascade on delete, and status is restricted via CHECK constraint to INTERESTED, CONFIRMED, CANCELLED, or WAITLISTED.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provides direct proof of actual database operations and records.</a:t>
            </a:r>
          </a:p>
          <a:p>
            <a:r>
              <a:t>In the `users` table: passwords are never stored in plaintext. They are salted BCrypt hashes starting with $2a$.</a:t>
            </a:r>
          </a:p>
          <a:p>
            <a:r>
              <a:t>In the `events` table: we store structured attributes including start dates, categories, and capacities.</a:t>
            </a:r>
          </a:p>
          <a:p>
            <a:r>
              <a:t>In the `registrations` table: we see the associative rows linking user 2 (guest) with events 1 and 2, with status recorded as INTERESTED. Attempting to insert a duplicate (user 2, event 1) is immediately rejected by the unique database index.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summarizes our current progress for Review 2. We have achieved an estimated 85% completion of our core platform. </a:t>
            </a:r>
          </a:p>
          <a:p/>
          <a:p>
            <a:r>
              <a:t>Everything we present is backed by hard evidence:</a:t>
            </a:r>
          </a:p>
          <a:p>
            <a:r>
              <a:t>All 63 automated tests are passing in our test suite, spanning service logic, pessimistic locking, controller validations, and security policies. </a:t>
            </a:r>
          </a:p>
          <a:p>
            <a:r>
              <a:t>Our GitHub Actions CI pipeline builds the Docker image and executes tests against a real MySQL 8.4 service container. In addition, operational endpoints like `/actuator/health` and `/v3/api-docs` are already operational.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details four significant engineering challenges we encountered and solved:</a:t>
            </a:r>
          </a:p>
          <a:p>
            <a:r>
              <a:t>First, concurrent registration race conditions: we resolved this using JPA pessimistic write locking and a unique database constraint.</a:t>
            </a:r>
          </a:p>
          <a:p>
            <a:r>
              <a:t>Second, Flyway 12 compatibility with MySQL 8.4 LTS: we resolved this by pinning the dedicated `flyway-mysql` module.</a:t>
            </a:r>
          </a:p>
          <a:p>
            <a:r>
              <a:t>Third, secure admin initialization: we removed all hardcoded passwords, replacing them with environment secret injection.</a:t>
            </a:r>
          </a:p>
          <a:p>
            <a:r>
              <a:t>Fourth, container image persistence: we implemented database-backed MEDIUMBLOB storage with MIME-type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for Review 2, CampusConnect has successfully transformed from an abstract concept into a fully functional, tested, and secure modular monolith. </a:t>
            </a:r>
          </a:p>
          <a:p/>
          <a:p>
            <a:r>
              <a:t>We have verified our frontend pages, implemented robust input validation, deployed a normalized MySQL schema via Flyway migrations, and backed our work with 63 automated tests in CI. </a:t>
            </a:r>
          </a:p>
          <a:p/>
          <a:p>
            <a:r>
              <a:t>Looking forward to Sprint 3 and Review 3, we plan to implement internal seat reservation ticketing, asynchronous notifications, and semantic search. Thank you for your time and guidance. We are now ready to take questions from the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914400"/>
            <a:ext cx="9997135" cy="5029200"/>
          </a:xfrm>
          <a:prstGeom prst="roundRect">
            <a:avLst/>
          </a:prstGeom>
          <a:solidFill>
            <a:srgbClr val="182234"/>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463040" y="1280160"/>
            <a:ext cx="4114800" cy="347472"/>
          </a:xfrm>
          <a:prstGeom prst="roundRect">
            <a:avLst/>
          </a:prstGeom>
          <a:solidFill>
            <a:srgbClr val="121A2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6B6D4"/>
                </a:solidFill>
                <a:latin typeface="Arial"/>
              </a:defRPr>
            </a:pPr>
            <a:r>
              <a:t>ACADEMIC CAPSTONE PROJECT • REVIEW 2</a:t>
            </a:r>
          </a:p>
        </p:txBody>
      </p:sp>
      <p:sp>
        <p:nvSpPr>
          <p:cNvPr id="5" name="TextBox 4"/>
          <p:cNvSpPr txBox="1"/>
          <p:nvPr/>
        </p:nvSpPr>
        <p:spPr>
          <a:xfrm>
            <a:off x="1463040" y="1783080"/>
            <a:ext cx="9235440" cy="1828800"/>
          </a:xfrm>
          <a:prstGeom prst="rect">
            <a:avLst/>
          </a:prstGeom>
          <a:noFill/>
        </p:spPr>
        <p:txBody>
          <a:bodyPr wrap="square">
            <a:spAutoFit/>
          </a:bodyPr>
          <a:lstStyle/>
          <a:p>
            <a:pPr>
              <a:defRPr sz="4000" b="1">
                <a:solidFill>
                  <a:srgbClr val="FFFFFF"/>
                </a:solidFill>
                <a:latin typeface="Arial"/>
              </a:defRPr>
            </a:pPr>
            <a:r>
              <a:t>CampusConnect</a:t>
            </a:r>
          </a:p>
          <a:p>
            <a:pPr>
              <a:spcBef>
                <a:spcPts val="800"/>
              </a:spcBef>
              <a:defRPr sz="2200">
                <a:solidFill>
                  <a:srgbClr val="6366F1"/>
                </a:solidFill>
                <a:latin typeface="Arial"/>
              </a:defRPr>
            </a:pPr>
            <a:r>
              <a:t>A Trustworthy Campus Event Catalogue with a Secure Administrative Control Plane</a:t>
            </a:r>
          </a:p>
          <a:p>
            <a:pPr>
              <a:spcBef>
                <a:spcPts val="600"/>
              </a:spcBef>
              <a:defRPr sz="1600">
                <a:solidFill>
                  <a:srgbClr val="94A3B8"/>
                </a:solidFill>
                <a:latin typeface="Arial"/>
              </a:defRPr>
            </a:pPr>
            <a:r>
              <a:t>Review 2 Deliverables: System Architecture, Frontend Implementation, Database Normalization, Schema &amp; ER Design</a:t>
            </a:r>
          </a:p>
        </p:txBody>
      </p:sp>
      <p:sp>
        <p:nvSpPr>
          <p:cNvPr id="6" name="Rounded Rectangle 5"/>
          <p:cNvSpPr/>
          <p:nvPr/>
        </p:nvSpPr>
        <p:spPr>
          <a:xfrm>
            <a:off x="1463040" y="3749039"/>
            <a:ext cx="9235440" cy="1737360"/>
          </a:xfrm>
          <a:prstGeom prst="roundRect">
            <a:avLst/>
          </a:prstGeom>
          <a:solidFill>
            <a:srgbClr val="121A28"/>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37360" y="3840480"/>
            <a:ext cx="4206240" cy="1554480"/>
          </a:xfrm>
          <a:prstGeom prst="rect">
            <a:avLst/>
          </a:prstGeom>
          <a:noFill/>
        </p:spPr>
        <p:txBody>
          <a:bodyPr wrap="square">
            <a:spAutoFit/>
          </a:bodyPr>
          <a:lstStyle/>
          <a:p>
            <a:pPr>
              <a:defRPr sz="1500" b="1">
                <a:solidFill>
                  <a:srgbClr val="06B6D4"/>
                </a:solidFill>
                <a:latin typeface="Arial"/>
              </a:defRPr>
            </a:pPr>
            <a:r>
              <a:t>Project Team Members:</a:t>
            </a:r>
          </a:p>
          <a:p>
            <a:pPr>
              <a:defRPr sz="1300">
                <a:solidFill>
                  <a:srgbClr val="E2E8F0"/>
                </a:solidFill>
              </a:defRPr>
            </a:pPr>
            <a:r>
              <a:t>• Tejaswin Amara (Lead Full-Stack &amp; System Architecture)</a:t>
            </a:r>
          </a:p>
          <a:p>
            <a:pPr>
              <a:defRPr sz="1300">
                <a:solidFill>
                  <a:srgbClr val="E2E8F0"/>
                </a:solidFill>
              </a:defRPr>
            </a:pPr>
            <a:r>
              <a:t>• Team Member 2 (Database Engineering &amp; Migration Lead)</a:t>
            </a:r>
          </a:p>
          <a:p>
            <a:pPr>
              <a:defRPr sz="1300">
                <a:solidFill>
                  <a:srgbClr val="E2E8F0"/>
                </a:solidFill>
              </a:defRPr>
            </a:pPr>
            <a:r>
              <a:t>• Team Member 3 (Frontend &amp; Security Integration Specialist)</a:t>
            </a:r>
          </a:p>
        </p:txBody>
      </p:sp>
      <p:sp>
        <p:nvSpPr>
          <p:cNvPr id="8" name="TextBox 7"/>
          <p:cNvSpPr txBox="1"/>
          <p:nvPr/>
        </p:nvSpPr>
        <p:spPr>
          <a:xfrm>
            <a:off x="6217920" y="3840480"/>
            <a:ext cx="4206240" cy="1554480"/>
          </a:xfrm>
          <a:prstGeom prst="rect">
            <a:avLst/>
          </a:prstGeom>
          <a:noFill/>
        </p:spPr>
        <p:txBody>
          <a:bodyPr wrap="square">
            <a:spAutoFit/>
          </a:bodyPr>
          <a:lstStyle/>
          <a:p>
            <a:pPr>
              <a:defRPr sz="1500" b="1">
                <a:solidFill>
                  <a:srgbClr val="10B981"/>
                </a:solidFill>
                <a:latin typeface="Arial"/>
              </a:defRPr>
            </a:pPr>
            <a:r>
              <a:t>Project Supervision &amp; Tech Stack:</a:t>
            </a:r>
          </a:p>
          <a:p>
            <a:pPr>
              <a:defRPr sz="1300">
                <a:solidFill>
                  <a:srgbClr val="E2E8F0"/>
                </a:solidFill>
              </a:defRPr>
            </a:pPr>
            <a:r>
              <a:t>Project Guide: Prof. / Dr. Department Mentor</a:t>
            </a:r>
          </a:p>
          <a:p>
            <a:pPr>
              <a:defRPr sz="1300">
                <a:solidFill>
                  <a:srgbClr val="E2E8F0"/>
                </a:solidFill>
              </a:defRPr>
            </a:pPr>
            <a:r>
              <a:t>Department: Computer Science &amp; Engineering</a:t>
            </a:r>
          </a:p>
          <a:p>
            <a:pPr>
              <a:defRPr sz="1300" b="1">
                <a:solidFill>
                  <a:srgbClr val="6366F1"/>
                </a:solidFill>
              </a:defRPr>
            </a:pPr>
            <a:r>
              <a:t>Core Stack: Java 25 | Spring Boot 4 | MySQL 8.4 LTS | React &amp; Thymeleaf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82234"/>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6B6D4"/>
                </a:solidFill>
                <a:latin typeface="Arial"/>
              </a:defRPr>
            </a:pPr>
            <a:r>
              <a:t>PROBLEM &amp; MOTIVATION</a:t>
            </a:r>
          </a:p>
        </p:txBody>
      </p:sp>
      <p:sp>
        <p:nvSpPr>
          <p:cNvPr id="4" name="TextBox 3"/>
          <p:cNvSpPr txBox="1"/>
          <p:nvPr/>
        </p:nvSpPr>
        <p:spPr>
          <a:xfrm>
            <a:off x="731520" y="731520"/>
            <a:ext cx="10728655" cy="777240"/>
          </a:xfrm>
          <a:prstGeom prst="rect">
            <a:avLst/>
          </a:prstGeom>
          <a:noFill/>
        </p:spPr>
        <p:txBody>
          <a:bodyPr wrap="square" lIns="0" tIns="0" rIns="0" bIns="0">
            <a:spAutoFit/>
          </a:bodyPr>
          <a:lstStyle/>
          <a:p>
            <a:pPr>
              <a:defRPr sz="3000" b="1">
                <a:solidFill>
                  <a:srgbClr val="FFFFFF"/>
                </a:solidFill>
                <a:latin typeface="Arial"/>
              </a:defRPr>
            </a:pPr>
            <a:r>
              <a:t>Problem Statement &amp; Existing System Analysis</a:t>
            </a:r>
          </a:p>
          <a:p>
            <a:pPr>
              <a:spcBef>
                <a:spcPts val="300"/>
              </a:spcBef>
              <a:defRPr sz="1500">
                <a:solidFill>
                  <a:srgbClr val="94A3B8"/>
                </a:solidFill>
                <a:latin typeface="Arial"/>
              </a:defRPr>
            </a:pPr>
            <a:r>
              <a:t>Why campus event management requires a centralized, verifiable solution</a:t>
            </a:r>
          </a:p>
        </p:txBody>
      </p:sp>
      <p:sp>
        <p:nvSpPr>
          <p:cNvPr id="5" name="Rounded Rectangle 4"/>
          <p:cNvSpPr/>
          <p:nvPr/>
        </p:nvSpPr>
        <p:spPr>
          <a:xfrm>
            <a:off x="731520" y="1737360"/>
            <a:ext cx="5120640" cy="457200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206240"/>
          </a:xfrm>
          <a:prstGeom prst="rect">
            <a:avLst/>
          </a:prstGeom>
          <a:noFill/>
        </p:spPr>
        <p:txBody>
          <a:bodyPr wrap="square">
            <a:spAutoFit/>
          </a:bodyPr>
          <a:lstStyle/>
          <a:p>
            <a:pPr>
              <a:defRPr sz="2200" b="1">
                <a:solidFill>
                  <a:srgbClr val="EC4899"/>
                </a:solidFill>
              </a:defRPr>
            </a:pPr>
            <a:r>
              <a:t>Existing System Bottlenecks</a:t>
            </a:r>
          </a:p>
          <a:p>
            <a:pPr>
              <a:spcBef>
                <a:spcPts val="1200"/>
              </a:spcBef>
            </a:pPr>
            <a:r>
              <a:rPr b="1" sz="1600">
                <a:solidFill>
                  <a:srgbClr val="FFFFFF"/>
                </a:solidFill>
              </a:rPr>
              <a:t>• Information Fragmentation: </a:t>
            </a:r>
            <a:r>
              <a:rPr sz="1500">
                <a:solidFill>
                  <a:srgbClr val="E2E8F0"/>
                </a:solidFill>
              </a:rPr>
              <a:t>Event details are scattered across informal WhatsApp groups, bulletin boards, and unverified social media handles.</a:t>
            </a:r>
          </a:p>
          <a:p>
            <a:pPr>
              <a:spcBef>
                <a:spcPts val="1200"/>
              </a:spcBef>
            </a:pPr>
            <a:r>
              <a:rPr b="1" sz="1600">
                <a:solidFill>
                  <a:srgbClr val="FFFFFF"/>
                </a:solidFill>
              </a:rPr>
              <a:t>• Broken Redirects &amp; Phishing: </a:t>
            </a:r>
            <a:r>
              <a:rPr sz="1500">
                <a:solidFill>
                  <a:srgbClr val="E2E8F0"/>
                </a:solidFill>
              </a:rPr>
              <a:t>Students frequently encounter outdated external registration links and unverified Google Forms.</a:t>
            </a:r>
          </a:p>
          <a:p>
            <a:pPr>
              <a:spcBef>
                <a:spcPts val="1200"/>
              </a:spcBef>
            </a:pPr>
            <a:r>
              <a:rPr b="1" sz="1600">
                <a:solidFill>
                  <a:srgbClr val="FFFFFF"/>
                </a:solidFill>
              </a:rPr>
              <a:t>• No Verified Capacity Enforcement: </a:t>
            </a:r>
            <a:r>
              <a:rPr sz="1500">
                <a:solidFill>
                  <a:srgbClr val="E2E8F0"/>
                </a:solidFill>
              </a:rPr>
              <a:t>Organizers cannot broadcast seat exhaustion in real time, leading to overcrowded physical venues.</a:t>
            </a:r>
          </a:p>
          <a:p>
            <a:pPr>
              <a:spcBef>
                <a:spcPts val="1200"/>
              </a:spcBef>
            </a:pPr>
            <a:r>
              <a:rPr b="1" sz="1600">
                <a:solidFill>
                  <a:srgbClr val="FFFFFF"/>
                </a:solidFill>
              </a:rPr>
              <a:t>• Duplicate &amp; Ghost Signups: </a:t>
            </a:r>
            <a:r>
              <a:rPr sz="1500">
                <a:solidFill>
                  <a:srgbClr val="E2E8F0"/>
                </a:solidFill>
              </a:rPr>
              <a:t>Lack of transactional user-event constraints allows duplicate signups that distort attendance metrics.</a:t>
            </a:r>
          </a:p>
        </p:txBody>
      </p:sp>
      <p:sp>
        <p:nvSpPr>
          <p:cNvPr id="7" name="Rounded Rectangle 6"/>
          <p:cNvSpPr/>
          <p:nvPr/>
        </p:nvSpPr>
        <p:spPr>
          <a:xfrm>
            <a:off x="6309360" y="1737360"/>
            <a:ext cx="5120640" cy="457200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206240"/>
          </a:xfrm>
          <a:prstGeom prst="rect">
            <a:avLst/>
          </a:prstGeom>
          <a:noFill/>
        </p:spPr>
        <p:txBody>
          <a:bodyPr wrap="square">
            <a:spAutoFit/>
          </a:bodyPr>
          <a:lstStyle/>
          <a:p>
            <a:pPr>
              <a:defRPr sz="2200" b="1">
                <a:solidFill>
                  <a:srgbClr val="10B981"/>
                </a:solidFill>
              </a:defRPr>
            </a:pPr>
            <a:r>
              <a:t>The CampusConnect Solution</a:t>
            </a:r>
          </a:p>
          <a:p>
            <a:pPr>
              <a:spcBef>
                <a:spcPts val="1200"/>
              </a:spcBef>
            </a:pPr>
            <a:r>
              <a:rPr b="1" sz="1600">
                <a:solidFill>
                  <a:srgbClr val="FFFFFF"/>
                </a:solidFill>
              </a:rPr>
              <a:t>• Single Source of Truth: </a:t>
            </a:r>
            <a:r>
              <a:rPr sz="1500">
                <a:solidFill>
                  <a:srgbClr val="E2E8F0"/>
                </a:solidFill>
              </a:rPr>
              <a:t>A centralized, searchable catalogue of verified campus events with instant category filtering.</a:t>
            </a:r>
          </a:p>
          <a:p>
            <a:pPr>
              <a:spcBef>
                <a:spcPts val="1200"/>
              </a:spcBef>
            </a:pPr>
            <a:r>
              <a:rPr b="1" sz="1600">
                <a:solidFill>
                  <a:srgbClr val="FFFFFF"/>
                </a:solidFill>
              </a:rPr>
              <a:t>• Validated Registration Links: </a:t>
            </a:r>
            <a:r>
              <a:rPr sz="1500">
                <a:solidFill>
                  <a:srgbClr val="E2E8F0"/>
                </a:solidFill>
              </a:rPr>
              <a:t>Strict server-side protocol checks guarantee students are redirected only to authenticated portals.</a:t>
            </a:r>
          </a:p>
          <a:p>
            <a:pPr>
              <a:spcBef>
                <a:spcPts val="1200"/>
              </a:spcBef>
            </a:pPr>
            <a:r>
              <a:rPr b="1" sz="1600">
                <a:solidFill>
                  <a:srgbClr val="FFFFFF"/>
                </a:solidFill>
              </a:rPr>
              <a:t>• Transactional Interest Tracking: </a:t>
            </a:r>
            <a:r>
              <a:rPr sz="1500">
                <a:solidFill>
                  <a:srgbClr val="E2E8F0"/>
                </a:solidFill>
              </a:rPr>
              <a:t>Pessimistic write locking enforces unique registration states with zero duplicate record overhead.</a:t>
            </a:r>
          </a:p>
          <a:p>
            <a:pPr>
              <a:spcBef>
                <a:spcPts val="1200"/>
              </a:spcBef>
            </a:pPr>
            <a:r>
              <a:rPr b="1" sz="1600">
                <a:solidFill>
                  <a:srgbClr val="FFFFFF"/>
                </a:solidFill>
              </a:rPr>
              <a:t>• Secure Admin Control Plane: </a:t>
            </a:r>
            <a:r>
              <a:rPr sz="1500">
                <a:solidFill>
                  <a:srgbClr val="E2E8F0"/>
                </a:solidFill>
              </a:rPr>
              <a:t>Role-Based Access Control (RBAC) allows verified faculty/leads to manage lifecycles and export telemetry.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82234"/>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6B6D4"/>
                </a:solidFill>
                <a:latin typeface="Arial"/>
              </a:defRPr>
            </a:pPr>
            <a:r>
              <a:t>PROJECT SPECIFICATION</a:t>
            </a:r>
          </a:p>
        </p:txBody>
      </p:sp>
      <p:sp>
        <p:nvSpPr>
          <p:cNvPr id="4" name="TextBox 3"/>
          <p:cNvSpPr txBox="1"/>
          <p:nvPr/>
        </p:nvSpPr>
        <p:spPr>
          <a:xfrm>
            <a:off x="731520" y="731520"/>
            <a:ext cx="10728655" cy="777240"/>
          </a:xfrm>
          <a:prstGeom prst="rect">
            <a:avLst/>
          </a:prstGeom>
          <a:noFill/>
        </p:spPr>
        <p:txBody>
          <a:bodyPr wrap="square" lIns="0" tIns="0" rIns="0" bIns="0">
            <a:spAutoFit/>
          </a:bodyPr>
          <a:lstStyle/>
          <a:p>
            <a:pPr>
              <a:defRPr sz="3000" b="1">
                <a:solidFill>
                  <a:srgbClr val="FFFFFF"/>
                </a:solidFill>
                <a:latin typeface="Arial"/>
              </a:defRPr>
            </a:pPr>
            <a:r>
              <a:t>Project Objectives &amp; Scope Boundaries</a:t>
            </a:r>
          </a:p>
          <a:p>
            <a:pPr>
              <a:spcBef>
                <a:spcPts val="300"/>
              </a:spcBef>
              <a:defRPr sz="1500">
                <a:solidFill>
                  <a:srgbClr val="94A3B8"/>
                </a:solidFill>
                <a:latin typeface="Arial"/>
              </a:defRPr>
            </a:pPr>
            <a:r>
              <a:t>Specific, measurable technical outcomes and defined engineering boundaries</a:t>
            </a:r>
          </a:p>
        </p:txBody>
      </p:sp>
      <p:sp>
        <p:nvSpPr>
          <p:cNvPr id="5" name="Rounded Rectangle 4"/>
          <p:cNvSpPr/>
          <p:nvPr/>
        </p:nvSpPr>
        <p:spPr>
          <a:xfrm>
            <a:off x="731520" y="1737360"/>
            <a:ext cx="5120640" cy="457200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206240"/>
          </a:xfrm>
          <a:prstGeom prst="rect">
            <a:avLst/>
          </a:prstGeom>
          <a:noFill/>
        </p:spPr>
        <p:txBody>
          <a:bodyPr wrap="square">
            <a:spAutoFit/>
          </a:bodyPr>
          <a:lstStyle/>
          <a:p>
            <a:pPr>
              <a:defRPr sz="2200" b="1">
                <a:solidFill>
                  <a:srgbClr val="6366F1"/>
                </a:solidFill>
              </a:defRPr>
            </a:pPr>
            <a:r>
              <a:t>Core Technical Objectives</a:t>
            </a:r>
          </a:p>
          <a:p>
            <a:pPr>
              <a:spcBef>
                <a:spcPts val="1200"/>
              </a:spcBef>
            </a:pPr>
            <a:r>
              <a:rPr b="1" sz="1600">
                <a:solidFill>
                  <a:srgbClr val="FFFFFF"/>
                </a:solidFill>
              </a:rPr>
              <a:t>• Architect a Modular Monolith: </a:t>
            </a:r>
            <a:r>
              <a:rPr sz="1500">
                <a:solidFill>
                  <a:srgbClr val="E2E8F0"/>
                </a:solidFill>
              </a:rPr>
              <a:t>Build a unified, robust Spring Boot 4 backend with strict domain boundaries ready for future microservice extraction.</a:t>
            </a:r>
          </a:p>
          <a:p>
            <a:pPr>
              <a:spcBef>
                <a:spcPts val="1200"/>
              </a:spcBef>
            </a:pPr>
            <a:r>
              <a:rPr b="1" sz="1600">
                <a:solidFill>
                  <a:srgbClr val="FFFFFF"/>
                </a:solidFill>
              </a:rPr>
              <a:t>• High-Performance Event Discovery: </a:t>
            </a:r>
            <a:r>
              <a:rPr sz="1500">
                <a:solidFill>
                  <a:srgbClr val="E2E8F0"/>
                </a:solidFill>
              </a:rPr>
              <a:t>Implement indexed search, category filtering, and explainable upcoming event recommendations.</a:t>
            </a:r>
          </a:p>
          <a:p>
            <a:pPr>
              <a:spcBef>
                <a:spcPts val="1200"/>
              </a:spcBef>
            </a:pPr>
            <a:r>
              <a:rPr b="1" sz="1600">
                <a:solidFill>
                  <a:srgbClr val="FFFFFF"/>
                </a:solidFill>
              </a:rPr>
              <a:t>• Zero-Trust Security Baseline: </a:t>
            </a:r>
            <a:r>
              <a:rPr sz="1500">
                <a:solidFill>
                  <a:srgbClr val="E2E8F0"/>
                </a:solidFill>
              </a:rPr>
              <a:t>Enforce BCrypt credential encryption, CSRF protection, and Bucket4j IP-based login rate limiting.</a:t>
            </a:r>
          </a:p>
          <a:p>
            <a:pPr>
              <a:spcBef>
                <a:spcPts val="1200"/>
              </a:spcBef>
            </a:pPr>
            <a:r>
              <a:rPr b="1" sz="1600">
                <a:solidFill>
                  <a:srgbClr val="FFFFFF"/>
                </a:solidFill>
              </a:rPr>
              <a:t>• Automated Schema Governance: </a:t>
            </a:r>
            <a:r>
              <a:rPr sz="1500">
                <a:solidFill>
                  <a:srgbClr val="E2E8F0"/>
                </a:solidFill>
              </a:rPr>
              <a:t>Establish relational integrity via version-controlled Flyway V1–V3 migrations on MySQL 8.4.</a:t>
            </a:r>
          </a:p>
        </p:txBody>
      </p:sp>
      <p:sp>
        <p:nvSpPr>
          <p:cNvPr id="7" name="Rounded Rectangle 6"/>
          <p:cNvSpPr/>
          <p:nvPr/>
        </p:nvSpPr>
        <p:spPr>
          <a:xfrm>
            <a:off x="6309360" y="1737360"/>
            <a:ext cx="5120640" cy="457200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206240"/>
          </a:xfrm>
          <a:prstGeom prst="rect">
            <a:avLst/>
          </a:prstGeom>
          <a:noFill/>
        </p:spPr>
        <p:txBody>
          <a:bodyPr wrap="square">
            <a:spAutoFit/>
          </a:bodyPr>
          <a:lstStyle/>
          <a:p>
            <a:pPr>
              <a:defRPr sz="2200" b="1">
                <a:solidFill>
                  <a:srgbClr val="06B6D4"/>
                </a:solidFill>
              </a:defRPr>
            </a:pPr>
            <a:r>
              <a:t>Defined Project Scope</a:t>
            </a:r>
          </a:p>
          <a:p>
            <a:pPr>
              <a:spcBef>
                <a:spcPts val="1200"/>
              </a:spcBef>
            </a:pPr>
            <a:r>
              <a:rPr b="1" sz="1600">
                <a:solidFill>
                  <a:srgbClr val="FFFFFF"/>
                </a:solidFill>
              </a:rPr>
              <a:t>• In-Scope (Current Implementation): </a:t>
            </a:r>
            <a:r>
              <a:rPr sz="1500">
                <a:solidFill>
                  <a:srgbClr val="E2E8F0"/>
                </a:solidFill>
              </a:rPr>
              <a:t>Student public catalogue, event search/filter, interest registration, admin CRUD operations, image uploads (BLOB), telemetry dashboard, CSV export, health/Prometheus metrics.</a:t>
            </a:r>
          </a:p>
          <a:p>
            <a:pPr>
              <a:spcBef>
                <a:spcPts val="1200"/>
              </a:spcBef>
            </a:pPr>
            <a:r>
              <a:rPr b="1" sz="1600">
                <a:solidFill>
                  <a:srgbClr val="FFFFFF"/>
                </a:solidFill>
              </a:rPr>
              <a:t>• Authoritative Registration Link: </a:t>
            </a:r>
            <a:r>
              <a:rPr sz="1500">
                <a:solidFill>
                  <a:srgbClr val="E2E8F0"/>
                </a:solidFill>
              </a:rPr>
              <a:t>Interest is recorded within CampusConnect, while the configured external registration link remains authoritative for seat ticket issuance.</a:t>
            </a:r>
          </a:p>
          <a:p>
            <a:pPr>
              <a:spcBef>
                <a:spcPts val="1200"/>
              </a:spcBef>
            </a:pPr>
            <a:r>
              <a:rPr b="1" sz="1600">
                <a:solidFill>
                  <a:srgbClr val="FFFFFF"/>
                </a:solidFill>
              </a:rPr>
              <a:t>• Honest Architectural Boundary: </a:t>
            </a:r>
            <a:r>
              <a:rPr sz="1500">
                <a:solidFill>
                  <a:srgbClr val="E2E8F0"/>
                </a:solidFill>
              </a:rPr>
              <a:t>Technologies such as Kafka, MongoDB, pgvector, and FastAPI are modeled as bounded future evolution paths, not falsely claimed as current runtime components.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82234"/>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6B6D4"/>
                </a:solidFill>
                <a:latin typeface="Arial"/>
              </a:defRPr>
            </a:pPr>
            <a:r>
              <a:t>SYSTEM DESIGN</a:t>
            </a:r>
          </a:p>
        </p:txBody>
      </p:sp>
      <p:sp>
        <p:nvSpPr>
          <p:cNvPr id="4" name="TextBox 3"/>
          <p:cNvSpPr txBox="1"/>
          <p:nvPr/>
        </p:nvSpPr>
        <p:spPr>
          <a:xfrm>
            <a:off x="731520" y="731520"/>
            <a:ext cx="10728655" cy="777240"/>
          </a:xfrm>
          <a:prstGeom prst="rect">
            <a:avLst/>
          </a:prstGeom>
          <a:noFill/>
        </p:spPr>
        <p:txBody>
          <a:bodyPr wrap="square" lIns="0" tIns="0" rIns="0" bIns="0">
            <a:spAutoFit/>
          </a:bodyPr>
          <a:lstStyle/>
          <a:p>
            <a:pPr>
              <a:defRPr sz="3000" b="1">
                <a:solidFill>
                  <a:srgbClr val="FFFFFF"/>
                </a:solidFill>
                <a:latin typeface="Arial"/>
              </a:defRPr>
            </a:pPr>
            <a:r>
              <a:t>Proposed System &amp; Key Innovations</a:t>
            </a:r>
          </a:p>
          <a:p>
            <a:pPr>
              <a:spcBef>
                <a:spcPts val="300"/>
              </a:spcBef>
              <a:defRPr sz="1500">
                <a:solidFill>
                  <a:srgbClr val="94A3B8"/>
                </a:solidFill>
                <a:latin typeface="Arial"/>
              </a:defRPr>
            </a:pPr>
            <a:r>
              <a:t>Core architectural capabilities delivered in CampusConnect</a:t>
            </a:r>
          </a:p>
        </p:txBody>
      </p:sp>
      <p:sp>
        <p:nvSpPr>
          <p:cNvPr id="5" name="Rounded Rectangle 4"/>
          <p:cNvSpPr/>
          <p:nvPr/>
        </p:nvSpPr>
        <p:spPr>
          <a:xfrm>
            <a:off x="731520" y="1737360"/>
            <a:ext cx="5120640" cy="224028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01952"/>
            <a:ext cx="4663440" cy="1920240"/>
          </a:xfrm>
          <a:prstGeom prst="rect">
            <a:avLst/>
          </a:prstGeom>
          <a:noFill/>
        </p:spPr>
        <p:txBody>
          <a:bodyPr wrap="square">
            <a:spAutoFit/>
          </a:bodyPr>
          <a:lstStyle/>
          <a:p>
            <a:pPr>
              <a:defRPr sz="1800" b="1">
                <a:solidFill>
                  <a:srgbClr val="6366F1"/>
                </a:solidFill>
              </a:defRPr>
            </a:pPr>
            <a:r>
              <a:t>Modular Monolith Architecture</a:t>
            </a:r>
          </a:p>
          <a:p>
            <a:pPr>
              <a:spcBef>
                <a:spcPts val="600"/>
              </a:spcBef>
            </a:pPr>
            <a:r>
              <a:rPr b="1" sz="1400">
                <a:solidFill>
                  <a:srgbClr val="FFFFFF"/>
                </a:solidFill>
              </a:rPr>
              <a:t>• Single Deployable Artifact: </a:t>
            </a:r>
            <a:r>
              <a:rPr sz="1300">
                <a:solidFill>
                  <a:srgbClr val="E2E8F0"/>
                </a:solidFill>
              </a:rPr>
              <a:t>Unified Spring Boot application packaging controllers, business logic, security filters, and JPA entities.</a:t>
            </a:r>
          </a:p>
          <a:p>
            <a:pPr>
              <a:spcBef>
                <a:spcPts val="600"/>
              </a:spcBef>
            </a:pPr>
            <a:r>
              <a:rPr b="1" sz="1400">
                <a:solidFill>
                  <a:srgbClr val="FFFFFF"/>
                </a:solidFill>
              </a:rPr>
              <a:t>• Strict Module Separation: </a:t>
            </a:r>
            <a:r>
              <a:rPr sz="1300">
                <a:solidFill>
                  <a:srgbClr val="E2E8F0"/>
                </a:solidFill>
              </a:rPr>
              <a:t>Decoupled domain packages for Identity, Events, Registration, and Recommendations.</a:t>
            </a:r>
          </a:p>
        </p:txBody>
      </p:sp>
      <p:sp>
        <p:nvSpPr>
          <p:cNvPr id="7" name="Rounded Rectangle 6"/>
          <p:cNvSpPr/>
          <p:nvPr/>
        </p:nvSpPr>
        <p:spPr>
          <a:xfrm>
            <a:off x="6309360" y="1737360"/>
            <a:ext cx="5120640" cy="224028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901952"/>
            <a:ext cx="4663440" cy="1920240"/>
          </a:xfrm>
          <a:prstGeom prst="rect">
            <a:avLst/>
          </a:prstGeom>
          <a:noFill/>
        </p:spPr>
        <p:txBody>
          <a:bodyPr wrap="square">
            <a:spAutoFit/>
          </a:bodyPr>
          <a:lstStyle/>
          <a:p>
            <a:pPr>
              <a:defRPr sz="1800" b="1">
                <a:solidFill>
                  <a:srgbClr val="EC4899"/>
                </a:solidFill>
              </a:defRPr>
            </a:pPr>
            <a:r>
              <a:t>Zero-Trust Security Defense</a:t>
            </a:r>
          </a:p>
          <a:p>
            <a:pPr>
              <a:spcBef>
                <a:spcPts val="600"/>
              </a:spcBef>
            </a:pPr>
            <a:r>
              <a:rPr b="1" sz="1400">
                <a:solidFill>
                  <a:srgbClr val="FFFFFF"/>
                </a:solidFill>
              </a:rPr>
              <a:t>• Multi-Layer Authentication: </a:t>
            </a:r>
            <a:r>
              <a:rPr sz="1300">
                <a:solidFill>
                  <a:srgbClr val="E2E8F0"/>
                </a:solidFill>
              </a:rPr>
              <a:t>Spring Security filter chain with BCrypt 60-character salted password hashing.</a:t>
            </a:r>
          </a:p>
          <a:p>
            <a:pPr>
              <a:spcBef>
                <a:spcPts val="600"/>
              </a:spcBef>
            </a:pPr>
            <a:r>
              <a:rPr b="1" sz="1400">
                <a:solidFill>
                  <a:srgbClr val="FFFFFF"/>
                </a:solidFill>
              </a:rPr>
              <a:t>• Abuse Prevention: </a:t>
            </a:r>
            <a:r>
              <a:rPr sz="1300">
                <a:solidFill>
                  <a:srgbClr val="E2E8F0"/>
                </a:solidFill>
              </a:rPr>
              <a:t>Bucket4j IP-based login rate limiting, session-fixation protection, and CSRF token verification.</a:t>
            </a:r>
          </a:p>
        </p:txBody>
      </p:sp>
      <p:sp>
        <p:nvSpPr>
          <p:cNvPr id="9" name="Rounded Rectangle 8"/>
          <p:cNvSpPr/>
          <p:nvPr/>
        </p:nvSpPr>
        <p:spPr>
          <a:xfrm>
            <a:off x="731520" y="4160520"/>
            <a:ext cx="5120640" cy="224028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325112"/>
            <a:ext cx="4663440" cy="1920240"/>
          </a:xfrm>
          <a:prstGeom prst="rect">
            <a:avLst/>
          </a:prstGeom>
          <a:noFill/>
        </p:spPr>
        <p:txBody>
          <a:bodyPr wrap="square">
            <a:spAutoFit/>
          </a:bodyPr>
          <a:lstStyle/>
          <a:p>
            <a:pPr>
              <a:defRPr sz="1800" b="1">
                <a:solidFill>
                  <a:srgbClr val="10B981"/>
                </a:solidFill>
              </a:defRPr>
            </a:pPr>
            <a:r>
              <a:t>Relational Data Integrity</a:t>
            </a:r>
          </a:p>
          <a:p>
            <a:pPr>
              <a:spcBef>
                <a:spcPts val="600"/>
              </a:spcBef>
            </a:pPr>
            <a:r>
              <a:rPr b="1" sz="1400">
                <a:solidFill>
                  <a:srgbClr val="FFFFFF"/>
                </a:solidFill>
              </a:rPr>
              <a:t>• 3NF Normalized Schema: </a:t>
            </a:r>
            <a:r>
              <a:rPr sz="1300">
                <a:solidFill>
                  <a:srgbClr val="E2E8F0"/>
                </a:solidFill>
              </a:rPr>
              <a:t>Normalized MySQL 8.4 database managed exclusively via versioned Flyway V1–V3 migrations.</a:t>
            </a:r>
          </a:p>
          <a:p>
            <a:pPr>
              <a:spcBef>
                <a:spcPts val="600"/>
              </a:spcBef>
            </a:pPr>
            <a:r>
              <a:rPr b="1" sz="1400">
                <a:solidFill>
                  <a:srgbClr val="FFFFFF"/>
                </a:solidFill>
              </a:rPr>
              <a:t>• Pessimistic Concurrency Lock: </a:t>
            </a:r>
            <a:r>
              <a:rPr sz="1300">
                <a:solidFill>
                  <a:srgbClr val="E2E8F0"/>
                </a:solidFill>
              </a:rPr>
              <a:t>Row-level locks guarantee duplicate-free student interest registration under heavy concurrent clicks.</a:t>
            </a:r>
          </a:p>
        </p:txBody>
      </p:sp>
      <p:sp>
        <p:nvSpPr>
          <p:cNvPr id="11" name="Rounded Rectangle 10"/>
          <p:cNvSpPr/>
          <p:nvPr/>
        </p:nvSpPr>
        <p:spPr>
          <a:xfrm>
            <a:off x="6309360" y="4160520"/>
            <a:ext cx="5120640" cy="224028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4325112"/>
            <a:ext cx="4663440" cy="1920240"/>
          </a:xfrm>
          <a:prstGeom prst="rect">
            <a:avLst/>
          </a:prstGeom>
          <a:noFill/>
        </p:spPr>
        <p:txBody>
          <a:bodyPr wrap="square">
            <a:spAutoFit/>
          </a:bodyPr>
          <a:lstStyle/>
          <a:p>
            <a:pPr>
              <a:defRPr sz="1800" b="1">
                <a:solidFill>
                  <a:srgbClr val="06B6D4"/>
                </a:solidFill>
              </a:defRPr>
            </a:pPr>
            <a:r>
              <a:t>Intelligent Discovery &amp; Telemetry</a:t>
            </a:r>
          </a:p>
          <a:p>
            <a:pPr>
              <a:spcBef>
                <a:spcPts val="600"/>
              </a:spcBef>
            </a:pPr>
            <a:r>
              <a:rPr b="1" sz="1400">
                <a:solidFill>
                  <a:srgbClr val="FFFFFF"/>
                </a:solidFill>
              </a:rPr>
              <a:t>• Explainable Recommendations: </a:t>
            </a:r>
            <a:r>
              <a:rPr sz="1300">
                <a:solidFill>
                  <a:srgbClr val="E2E8F0"/>
                </a:solidFill>
              </a:rPr>
              <a:t>Server-side heuristic scoring recommending top 3 upcoming events based on category &amp; velocity.</a:t>
            </a:r>
          </a:p>
          <a:p>
            <a:pPr>
              <a:spcBef>
                <a:spcPts val="600"/>
              </a:spcBef>
            </a:pPr>
            <a:r>
              <a:rPr b="1" sz="1400">
                <a:solidFill>
                  <a:srgbClr val="FFFFFF"/>
                </a:solidFill>
              </a:rPr>
              <a:t>• Operational Observability: </a:t>
            </a:r>
            <a:r>
              <a:rPr sz="1300">
                <a:solidFill>
                  <a:srgbClr val="E2E8F0"/>
                </a:solidFill>
              </a:rPr>
              <a:t>Prometheus metrics via Micrometer and `/actuator/health` liveness/readiness probes.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82234"/>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6B6D4"/>
                </a:solidFill>
                <a:latin typeface="Arial"/>
              </a:defRPr>
            </a:pPr>
            <a:r>
              <a:t>ARCHITECTURE</a:t>
            </a:r>
          </a:p>
        </p:txBody>
      </p:sp>
      <p:sp>
        <p:nvSpPr>
          <p:cNvPr id="4" name="TextBox 3"/>
          <p:cNvSpPr txBox="1"/>
          <p:nvPr/>
        </p:nvSpPr>
        <p:spPr>
          <a:xfrm>
            <a:off x="731520" y="731520"/>
            <a:ext cx="10728655" cy="777240"/>
          </a:xfrm>
          <a:prstGeom prst="rect">
            <a:avLst/>
          </a:prstGeom>
          <a:noFill/>
        </p:spPr>
        <p:txBody>
          <a:bodyPr wrap="square" lIns="0" tIns="0" rIns="0" bIns="0">
            <a:spAutoFit/>
          </a:bodyPr>
          <a:lstStyle/>
          <a:p>
            <a:pPr>
              <a:defRPr sz="3000" b="1">
                <a:solidFill>
                  <a:srgbClr val="FFFFFF"/>
                </a:solidFill>
                <a:latin typeface="Arial"/>
              </a:defRPr>
            </a:pPr>
            <a:r>
              <a:t>System Architecture (C4 Layered Model)</a:t>
            </a:r>
          </a:p>
          <a:p>
            <a:pPr>
              <a:spcBef>
                <a:spcPts val="300"/>
              </a:spcBef>
              <a:defRPr sz="1500">
                <a:solidFill>
                  <a:srgbClr val="94A3B8"/>
                </a:solidFill>
                <a:latin typeface="Arial"/>
              </a:defRPr>
            </a:pPr>
            <a:r>
              <a:t>Multi-tiered modular design: Presentation, Security, Business Logic, and Data Persistence</a:t>
            </a:r>
          </a:p>
        </p:txBody>
      </p:sp>
      <p:sp>
        <p:nvSpPr>
          <p:cNvPr id="5" name="Rounded Rectangle 4"/>
          <p:cNvSpPr/>
          <p:nvPr/>
        </p:nvSpPr>
        <p:spPr>
          <a:xfrm>
            <a:off x="731520" y="1691640"/>
            <a:ext cx="6949440" cy="466344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ystem_architecture.png"/>
          <p:cNvPicPr>
            <a:picLocks noChangeAspect="1"/>
          </p:cNvPicPr>
          <p:nvPr/>
        </p:nvPicPr>
        <p:blipFill>
          <a:blip r:embed="rId2"/>
          <a:stretch>
            <a:fillRect/>
          </a:stretch>
        </p:blipFill>
        <p:spPr>
          <a:xfrm>
            <a:off x="868680" y="1828800"/>
            <a:ext cx="6675120" cy="3615690"/>
          </a:xfrm>
          <a:prstGeom prst="rect">
            <a:avLst/>
          </a:prstGeom>
        </p:spPr>
      </p:pic>
      <p:sp>
        <p:nvSpPr>
          <p:cNvPr id="7" name="Rounded Rectangle 6"/>
          <p:cNvSpPr/>
          <p:nvPr/>
        </p:nvSpPr>
        <p:spPr>
          <a:xfrm>
            <a:off x="7863840" y="1691640"/>
            <a:ext cx="3596335" cy="466344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1874519"/>
            <a:ext cx="3230575" cy="4297680"/>
          </a:xfrm>
          <a:prstGeom prst="rect">
            <a:avLst/>
          </a:prstGeom>
          <a:noFill/>
        </p:spPr>
        <p:txBody>
          <a:bodyPr wrap="square">
            <a:spAutoFit/>
          </a:bodyPr>
          <a:lstStyle/>
          <a:p>
            <a:pPr>
              <a:defRPr sz="2000" b="1">
                <a:solidFill>
                  <a:srgbClr val="6366F1"/>
                </a:solidFill>
              </a:defRPr>
            </a:pPr>
            <a:r>
              <a:t>Architectural Layers</a:t>
            </a:r>
          </a:p>
          <a:p>
            <a:pPr>
              <a:spcBef>
                <a:spcPts val="800"/>
              </a:spcBef>
            </a:pPr>
            <a:r>
              <a:rPr b="1" sz="1400">
                <a:solidFill>
                  <a:srgbClr val="FFFFFF"/>
                </a:solidFill>
              </a:rPr>
              <a:t>• Presentation Tier: </a:t>
            </a:r>
            <a:r>
              <a:rPr sz="1300">
                <a:solidFill>
                  <a:srgbClr val="E2E8F0"/>
                </a:solidFill>
              </a:rPr>
              <a:t>Dual web surfaces: Server-rendered Thymeleaf templates and responsive React dashboard interface.</a:t>
            </a:r>
          </a:p>
          <a:p>
            <a:pPr>
              <a:spcBef>
                <a:spcPts val="800"/>
              </a:spcBef>
            </a:pPr>
            <a:r>
              <a:rPr b="1" sz="1400">
                <a:solidFill>
                  <a:srgbClr val="FFFFFF"/>
                </a:solidFill>
              </a:rPr>
              <a:t>• Security Boundary: </a:t>
            </a:r>
            <a:r>
              <a:rPr sz="1300">
                <a:solidFill>
                  <a:srgbClr val="E2E8F0"/>
                </a:solidFill>
              </a:rPr>
              <a:t>Spring Security intercepts every request. Validates session cookies, CSRF tokens, and enforces RBAC.</a:t>
            </a:r>
          </a:p>
          <a:p>
            <a:pPr>
              <a:spcBef>
                <a:spcPts val="800"/>
              </a:spcBef>
            </a:pPr>
            <a:r>
              <a:rPr b="1" sz="1400">
                <a:solidFill>
                  <a:srgbClr val="FFFFFF"/>
                </a:solidFill>
              </a:rPr>
              <a:t>• Service Layer: </a:t>
            </a:r>
            <a:r>
              <a:rPr sz="1300">
                <a:solidFill>
                  <a:srgbClr val="E2E8F0"/>
                </a:solidFill>
              </a:rPr>
              <a:t>Transactional domain services (`EventService`, `UserService`, `RecommendationService`) maintain business invariants.</a:t>
            </a:r>
          </a:p>
          <a:p>
            <a:pPr>
              <a:spcBef>
                <a:spcPts val="800"/>
              </a:spcBef>
            </a:pPr>
            <a:r>
              <a:rPr b="1" sz="1400">
                <a:solidFill>
                  <a:srgbClr val="FFFFFF"/>
                </a:solidFill>
              </a:rPr>
              <a:t>• Persistence Tier: </a:t>
            </a:r>
            <a:r>
              <a:rPr sz="1300">
                <a:solidFill>
                  <a:srgbClr val="E2E8F0"/>
                </a:solidFill>
              </a:rPr>
              <a:t>Spring Data JPA repositories connect to MySQL 8.4 LTS; Flyway enforces schema changes.</a:t>
            </a:r>
          </a:p>
          <a:p>
            <a:pPr>
              <a:spcBef>
                <a:spcPts val="800"/>
              </a:spcBef>
            </a:pPr>
            <a:r>
              <a:rPr b="1" sz="1400">
                <a:solidFill>
                  <a:srgbClr val="FFFFFF"/>
                </a:solidFill>
              </a:rPr>
              <a:t>• Operational Plane: </a:t>
            </a:r>
            <a:r>
              <a:rPr sz="1300">
                <a:solidFill>
                  <a:srgbClr val="E2E8F0"/>
                </a:solidFill>
              </a:rPr>
              <a:t>Actuator exposes `/health` and Prometheus metrics for container monitoring.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82234"/>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6B6D4"/>
                </a:solidFill>
                <a:latin typeface="Arial"/>
              </a:defRPr>
            </a:pPr>
            <a:r>
              <a:t>MODULES</a:t>
            </a:r>
          </a:p>
        </p:txBody>
      </p:sp>
      <p:sp>
        <p:nvSpPr>
          <p:cNvPr id="4" name="TextBox 3"/>
          <p:cNvSpPr txBox="1"/>
          <p:nvPr/>
        </p:nvSpPr>
        <p:spPr>
          <a:xfrm>
            <a:off x="731520" y="731520"/>
            <a:ext cx="10728655" cy="777240"/>
          </a:xfrm>
          <a:prstGeom prst="rect">
            <a:avLst/>
          </a:prstGeom>
          <a:noFill/>
        </p:spPr>
        <p:txBody>
          <a:bodyPr wrap="square" lIns="0" tIns="0" rIns="0" bIns="0">
            <a:spAutoFit/>
          </a:bodyPr>
          <a:lstStyle/>
          <a:p>
            <a:pPr>
              <a:defRPr sz="3000" b="1">
                <a:solidFill>
                  <a:srgbClr val="FFFFFF"/>
                </a:solidFill>
                <a:latin typeface="Arial"/>
              </a:defRPr>
            </a:pPr>
            <a:r>
              <a:t>System Modules &amp; Functional Breakdown</a:t>
            </a:r>
          </a:p>
          <a:p>
            <a:pPr>
              <a:spcBef>
                <a:spcPts val="300"/>
              </a:spcBef>
              <a:defRPr sz="1500">
                <a:solidFill>
                  <a:srgbClr val="94A3B8"/>
                </a:solidFill>
                <a:latin typeface="Arial"/>
              </a:defRPr>
            </a:pPr>
            <a:r>
              <a:t>Decoupled functional boundaries ensuring maintainability and clean separation of concerns</a:t>
            </a:r>
          </a:p>
        </p:txBody>
      </p:sp>
      <p:sp>
        <p:nvSpPr>
          <p:cNvPr id="5" name="Rounded Rectangle 4"/>
          <p:cNvSpPr/>
          <p:nvPr/>
        </p:nvSpPr>
        <p:spPr>
          <a:xfrm>
            <a:off x="731520" y="1737360"/>
            <a:ext cx="5120640" cy="224028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01952"/>
            <a:ext cx="4663440" cy="1920240"/>
          </a:xfrm>
          <a:prstGeom prst="rect">
            <a:avLst/>
          </a:prstGeom>
          <a:noFill/>
        </p:spPr>
        <p:txBody>
          <a:bodyPr wrap="square">
            <a:spAutoFit/>
          </a:bodyPr>
          <a:lstStyle/>
          <a:p>
            <a:pPr>
              <a:defRPr sz="1700" b="1">
                <a:solidFill>
                  <a:srgbClr val="6366F1"/>
                </a:solidFill>
              </a:defRPr>
            </a:pPr>
            <a:r>
              <a:t>Module 1: Identity &amp; Access Control</a:t>
            </a:r>
          </a:p>
          <a:p>
            <a:pPr>
              <a:spcBef>
                <a:spcPts val="400"/>
              </a:spcBef>
            </a:pPr>
            <a:r>
              <a:rPr sz="1300">
                <a:solidFill>
                  <a:srgbClr val="E2E8F0"/>
                </a:solidFill>
              </a:rPr>
              <a:t>• Dual-Role Authorization: Strict segregation of STUDENT and ADMIN privileges.</a:t>
            </a:r>
          </a:p>
          <a:p>
            <a:pPr>
              <a:spcBef>
                <a:spcPts val="400"/>
              </a:spcBef>
            </a:pPr>
            <a:r>
              <a:rPr sz="1300">
                <a:solidFill>
                  <a:srgbClr val="E2E8F0"/>
                </a:solidFill>
              </a:rPr>
              <a:t>• BCrypt Credential Protection: 60-character salted password hashes stored in MySQL.</a:t>
            </a:r>
          </a:p>
          <a:p>
            <a:pPr>
              <a:spcBef>
                <a:spcPts val="400"/>
              </a:spcBef>
            </a:pPr>
            <a:r>
              <a:rPr sz="1300">
                <a:solidFill>
                  <a:srgbClr val="E2E8F0"/>
                </a:solidFill>
              </a:rPr>
              <a:t>• Rate Limiting Filter: Bucket4j token-bucket filter blocks brute-force login attempts.</a:t>
            </a:r>
          </a:p>
          <a:p>
            <a:pPr>
              <a:spcBef>
                <a:spcPts val="400"/>
              </a:spcBef>
            </a:pPr>
            <a:r>
              <a:rPr sz="1300">
                <a:solidFill>
                  <a:srgbClr val="E2E8F0"/>
                </a:solidFill>
              </a:rPr>
              <a:t>• Safe Session Handling: Session-fixation protection and secure cookie flags.</a:t>
            </a:r>
          </a:p>
        </p:txBody>
      </p:sp>
      <p:sp>
        <p:nvSpPr>
          <p:cNvPr id="7" name="Rounded Rectangle 6"/>
          <p:cNvSpPr/>
          <p:nvPr/>
        </p:nvSpPr>
        <p:spPr>
          <a:xfrm>
            <a:off x="6309360" y="1737360"/>
            <a:ext cx="5120640" cy="224028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901952"/>
            <a:ext cx="4663440" cy="1920240"/>
          </a:xfrm>
          <a:prstGeom prst="rect">
            <a:avLst/>
          </a:prstGeom>
          <a:noFill/>
        </p:spPr>
        <p:txBody>
          <a:bodyPr wrap="square">
            <a:spAutoFit/>
          </a:bodyPr>
          <a:lstStyle/>
          <a:p>
            <a:pPr>
              <a:defRPr sz="1700" b="1">
                <a:solidFill>
                  <a:srgbClr val="06B6D4"/>
                </a:solidFill>
              </a:defRPr>
            </a:pPr>
            <a:r>
              <a:t>Module 2: Event Discovery &amp; Catalogue</a:t>
            </a:r>
          </a:p>
          <a:p>
            <a:pPr>
              <a:spcBef>
                <a:spcPts val="400"/>
              </a:spcBef>
            </a:pPr>
            <a:r>
              <a:rPr sz="1300">
                <a:solidFill>
                  <a:srgbClr val="E2E8F0"/>
                </a:solidFill>
              </a:rPr>
              <a:t>• Public Event Catalogue: Paginated listings with high-contrast card presentation.</a:t>
            </a:r>
          </a:p>
          <a:p>
            <a:pPr>
              <a:spcBef>
                <a:spcPts val="400"/>
              </a:spcBef>
            </a:pPr>
            <a:r>
              <a:rPr sz="1300">
                <a:solidFill>
                  <a:srgbClr val="E2E8F0"/>
                </a:solidFill>
              </a:rPr>
              <a:t>• Multi-Param Filter &amp; Search: Real-time search across event title, venue, and description.</a:t>
            </a:r>
          </a:p>
          <a:p>
            <a:pPr>
              <a:spcBef>
                <a:spcPts val="400"/>
              </a:spcBef>
            </a:pPr>
            <a:r>
              <a:rPr sz="1300">
                <a:solidFill>
                  <a:srgbClr val="E2E8F0"/>
                </a:solidFill>
              </a:rPr>
              <a:t>• Category Pill Navigation: Instant filtering by Technical, Cultural, Sports, and Seminars.</a:t>
            </a:r>
          </a:p>
          <a:p>
            <a:pPr>
              <a:spcBef>
                <a:spcPts val="400"/>
              </a:spcBef>
            </a:pPr>
            <a:r>
              <a:rPr sz="1300">
                <a:solidFill>
                  <a:srgbClr val="E2E8F0"/>
                </a:solidFill>
              </a:rPr>
              <a:t>• Event Detail Drawer: Full modal dialog with date/time, venue pin, and capacity gauge.</a:t>
            </a:r>
          </a:p>
        </p:txBody>
      </p:sp>
      <p:sp>
        <p:nvSpPr>
          <p:cNvPr id="9" name="Rounded Rectangle 8"/>
          <p:cNvSpPr/>
          <p:nvPr/>
        </p:nvSpPr>
        <p:spPr>
          <a:xfrm>
            <a:off x="731520" y="4160520"/>
            <a:ext cx="5120640" cy="224028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325112"/>
            <a:ext cx="4663440" cy="1920240"/>
          </a:xfrm>
          <a:prstGeom prst="rect">
            <a:avLst/>
          </a:prstGeom>
          <a:noFill/>
        </p:spPr>
        <p:txBody>
          <a:bodyPr wrap="square">
            <a:spAutoFit/>
          </a:bodyPr>
          <a:lstStyle/>
          <a:p>
            <a:pPr>
              <a:defRPr sz="1700" b="1">
                <a:solidFill>
                  <a:srgbClr val="10B981"/>
                </a:solidFill>
              </a:defRPr>
            </a:pPr>
            <a:r>
              <a:t>Module 3: Registration &amp; Interest Engine</a:t>
            </a:r>
          </a:p>
          <a:p>
            <a:pPr>
              <a:spcBef>
                <a:spcPts val="400"/>
              </a:spcBef>
            </a:pPr>
            <a:r>
              <a:rPr sz="1300">
                <a:solidFill>
                  <a:srgbClr val="E2E8F0"/>
                </a:solidFill>
              </a:rPr>
              <a:t>• Transactional Interest Flow: Safe user registration recording before external redirect.</a:t>
            </a:r>
          </a:p>
          <a:p>
            <a:pPr>
              <a:spcBef>
                <a:spcPts val="400"/>
              </a:spcBef>
            </a:pPr>
            <a:r>
              <a:rPr sz="1300">
                <a:solidFill>
                  <a:srgbClr val="E2E8F0"/>
                </a:solidFill>
              </a:rPr>
              <a:t>• Concurrency Guard: Pessimistic write lock prevents race-condition double registration.</a:t>
            </a:r>
          </a:p>
          <a:p>
            <a:pPr>
              <a:spcBef>
                <a:spcPts val="400"/>
              </a:spcBef>
            </a:pPr>
            <a:r>
              <a:rPr sz="1300">
                <a:solidFill>
                  <a:srgbClr val="E2E8F0"/>
                </a:solidFill>
              </a:rPr>
              <a:t>• External Link Verification: Server-side URI scheme validation (HTTP/HTTPS whitelist).</a:t>
            </a:r>
          </a:p>
          <a:p>
            <a:pPr>
              <a:spcBef>
                <a:spcPts val="400"/>
              </a:spcBef>
            </a:pPr>
            <a:r>
              <a:rPr sz="1300">
                <a:solidFill>
                  <a:srgbClr val="E2E8F0"/>
                </a:solidFill>
              </a:rPr>
              <a:t>• Unique Constraint Defense: MySQL compound key `uk_user_event` guarantees data integrity.</a:t>
            </a:r>
          </a:p>
        </p:txBody>
      </p:sp>
      <p:sp>
        <p:nvSpPr>
          <p:cNvPr id="11" name="Rounded Rectangle 10"/>
          <p:cNvSpPr/>
          <p:nvPr/>
        </p:nvSpPr>
        <p:spPr>
          <a:xfrm>
            <a:off x="6309360" y="4160520"/>
            <a:ext cx="5120640" cy="224028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4325112"/>
            <a:ext cx="4663440" cy="1920240"/>
          </a:xfrm>
          <a:prstGeom prst="rect">
            <a:avLst/>
          </a:prstGeom>
          <a:noFill/>
        </p:spPr>
        <p:txBody>
          <a:bodyPr wrap="square">
            <a:spAutoFit/>
          </a:bodyPr>
          <a:lstStyle/>
          <a:p>
            <a:pPr>
              <a:defRPr sz="1700" b="1">
                <a:solidFill>
                  <a:srgbClr val="F59E0B"/>
                </a:solidFill>
              </a:defRPr>
            </a:pPr>
            <a:r>
              <a:t>Module 4: Admin Control Plane &amp; Telemetry</a:t>
            </a:r>
          </a:p>
          <a:p>
            <a:pPr>
              <a:spcBef>
                <a:spcPts val="400"/>
              </a:spcBef>
            </a:pPr>
            <a:r>
              <a:rPr sz="1300">
                <a:solidFill>
                  <a:srgbClr val="E2E8F0"/>
                </a:solidFill>
              </a:rPr>
              <a:t>• Full Event Lifecycle (CRUD): Admin interface to create, edit, and delete event records.</a:t>
            </a:r>
          </a:p>
          <a:p>
            <a:pPr>
              <a:spcBef>
                <a:spcPts val="400"/>
              </a:spcBef>
            </a:pPr>
            <a:r>
              <a:rPr sz="1300">
                <a:solidFill>
                  <a:srgbClr val="E2E8F0"/>
                </a:solidFill>
              </a:rPr>
              <a:t>• Media Upload Management: Validated image upload persistence (MEDIUMBLOB).</a:t>
            </a:r>
          </a:p>
          <a:p>
            <a:pPr>
              <a:spcBef>
                <a:spcPts val="400"/>
              </a:spcBef>
            </a:pPr>
            <a:r>
              <a:rPr sz="1300">
                <a:solidFill>
                  <a:srgbClr val="E2E8F0"/>
                </a:solidFill>
              </a:rPr>
              <a:t>• Real-Time KPI Analytics: Metric cards tracking total events, registrations, and capacity.</a:t>
            </a:r>
          </a:p>
          <a:p>
            <a:pPr>
              <a:spcBef>
                <a:spcPts val="400"/>
              </a:spcBef>
            </a:pPr>
            <a:r>
              <a:rPr sz="1300">
                <a:solidFill>
                  <a:srgbClr val="E2E8F0"/>
                </a:solidFill>
              </a:rPr>
              <a:t>• One-Click CSV Export: Instant download of event rosters for offline administrative reporting.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82234"/>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6B6D4"/>
                </a:solidFill>
                <a:latin typeface="Arial"/>
              </a:defRPr>
            </a:pPr>
            <a:r>
              <a:t>FRONTEND DESIGN</a:t>
            </a:r>
          </a:p>
        </p:txBody>
      </p:sp>
      <p:sp>
        <p:nvSpPr>
          <p:cNvPr id="4" name="TextBox 3"/>
          <p:cNvSpPr txBox="1"/>
          <p:nvPr/>
        </p:nvSpPr>
        <p:spPr>
          <a:xfrm>
            <a:off x="731520" y="731520"/>
            <a:ext cx="10728655" cy="777240"/>
          </a:xfrm>
          <a:prstGeom prst="rect">
            <a:avLst/>
          </a:prstGeom>
          <a:noFill/>
        </p:spPr>
        <p:txBody>
          <a:bodyPr wrap="square" lIns="0" tIns="0" rIns="0" bIns="0">
            <a:spAutoFit/>
          </a:bodyPr>
          <a:lstStyle/>
          <a:p>
            <a:pPr>
              <a:defRPr sz="3000" b="1">
                <a:solidFill>
                  <a:srgbClr val="FFFFFF"/>
                </a:solidFill>
                <a:latin typeface="Arial"/>
              </a:defRPr>
            </a:pPr>
            <a:r>
              <a:t>Frontend Design: Discovery Feed &amp; Authentication</a:t>
            </a:r>
          </a:p>
          <a:p>
            <a:pPr>
              <a:spcBef>
                <a:spcPts val="300"/>
              </a:spcBef>
              <a:defRPr sz="1500">
                <a:solidFill>
                  <a:srgbClr val="94A3B8"/>
                </a:solidFill>
                <a:latin typeface="Arial"/>
              </a:defRPr>
            </a:pPr>
            <a:r>
              <a:t>Modern design tokens, high contrast visual hierarchy, and responsive mobile-first layouts</a:t>
            </a:r>
          </a:p>
        </p:txBody>
      </p:sp>
      <p:sp>
        <p:nvSpPr>
          <p:cNvPr id="5" name="Rounded Rectangle 4"/>
          <p:cNvSpPr/>
          <p:nvPr/>
        </p:nvSpPr>
        <p:spPr>
          <a:xfrm>
            <a:off x="731520" y="1691640"/>
            <a:ext cx="5120640" cy="393192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1_student_catalogue.png"/>
          <p:cNvPicPr>
            <a:picLocks noChangeAspect="1"/>
          </p:cNvPicPr>
          <p:nvPr/>
        </p:nvPicPr>
        <p:blipFill>
          <a:blip r:embed="rId2"/>
          <a:stretch>
            <a:fillRect/>
          </a:stretch>
        </p:blipFill>
        <p:spPr>
          <a:xfrm>
            <a:off x="868680" y="1783080"/>
            <a:ext cx="4846320" cy="3028950"/>
          </a:xfrm>
          <a:prstGeom prst="rect">
            <a:avLst/>
          </a:prstGeom>
        </p:spPr>
      </p:pic>
      <p:sp>
        <p:nvSpPr>
          <p:cNvPr id="7" name="TextBox 6"/>
          <p:cNvSpPr txBox="1"/>
          <p:nvPr/>
        </p:nvSpPr>
        <p:spPr>
          <a:xfrm>
            <a:off x="731520" y="5715000"/>
            <a:ext cx="5120640" cy="731520"/>
          </a:xfrm>
          <a:prstGeom prst="rect">
            <a:avLst/>
          </a:prstGeom>
          <a:noFill/>
        </p:spPr>
        <p:txBody>
          <a:bodyPr wrap="square">
            <a:spAutoFit/>
          </a:bodyPr>
          <a:lstStyle/>
          <a:p>
            <a:pPr>
              <a:defRPr b="1" sz="1500">
                <a:solidFill>
                  <a:srgbClr val="6366F1"/>
                </a:solidFill>
              </a:defRPr>
            </a:pPr>
            <a:r>
              <a:t>Student Discovery Home Page</a:t>
            </a:r>
          </a:p>
          <a:p>
            <a:pPr>
              <a:defRPr sz="1300">
                <a:solidFill>
                  <a:srgbClr val="94A3B8"/>
                </a:solidFill>
              </a:defRPr>
            </a:pPr>
            <a:r>
              <a:t>Search bar, category filter pills, recommended event banner, and responsive card grid.</a:t>
            </a:r>
          </a:p>
        </p:txBody>
      </p:sp>
      <p:sp>
        <p:nvSpPr>
          <p:cNvPr id="8" name="Rounded Rectangle 7"/>
          <p:cNvSpPr/>
          <p:nvPr/>
        </p:nvSpPr>
        <p:spPr>
          <a:xfrm>
            <a:off x="6309360" y="1691640"/>
            <a:ext cx="5120640" cy="393192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4_admin_login.png"/>
          <p:cNvPicPr>
            <a:picLocks noChangeAspect="1"/>
          </p:cNvPicPr>
          <p:nvPr/>
        </p:nvPicPr>
        <p:blipFill>
          <a:blip r:embed="rId3"/>
          <a:stretch>
            <a:fillRect/>
          </a:stretch>
        </p:blipFill>
        <p:spPr>
          <a:xfrm>
            <a:off x="6446520" y="1783080"/>
            <a:ext cx="4846320" cy="3028950"/>
          </a:xfrm>
          <a:prstGeom prst="rect">
            <a:avLst/>
          </a:prstGeom>
        </p:spPr>
      </p:pic>
      <p:sp>
        <p:nvSpPr>
          <p:cNvPr id="10" name="TextBox 9"/>
          <p:cNvSpPr txBox="1"/>
          <p:nvPr/>
        </p:nvSpPr>
        <p:spPr>
          <a:xfrm>
            <a:off x="6309360" y="5715000"/>
            <a:ext cx="5120640" cy="731520"/>
          </a:xfrm>
          <a:prstGeom prst="rect">
            <a:avLst/>
          </a:prstGeom>
          <a:noFill/>
        </p:spPr>
        <p:txBody>
          <a:bodyPr wrap="square">
            <a:spAutoFit/>
          </a:bodyPr>
          <a:lstStyle/>
          <a:p>
            <a:pPr>
              <a:defRPr b="1" sz="1500">
                <a:solidFill>
                  <a:srgbClr val="06B6D4"/>
                </a:solidFill>
              </a:defRPr>
            </a:pPr>
            <a:r>
              <a:t>Secure Admin Authentication Portal</a:t>
            </a:r>
          </a:p>
          <a:p>
            <a:pPr>
              <a:defRPr sz="1300">
                <a:solidFill>
                  <a:srgbClr val="94A3B8"/>
                </a:solidFill>
              </a:defRPr>
            </a:pPr>
            <a:r>
              <a:t>Glassmorphic authentication card with BCrypt protection &amp; Bucket4j rate-limit feedback.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82234"/>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6B6D4"/>
                </a:solidFill>
                <a:latin typeface="Arial"/>
              </a:defRPr>
            </a:pPr>
            <a:r>
              <a:t>LIVE DEMONSTRATION</a:t>
            </a:r>
          </a:p>
        </p:txBody>
      </p:sp>
      <p:sp>
        <p:nvSpPr>
          <p:cNvPr id="4" name="TextBox 3"/>
          <p:cNvSpPr txBox="1"/>
          <p:nvPr/>
        </p:nvSpPr>
        <p:spPr>
          <a:xfrm>
            <a:off x="731520" y="731520"/>
            <a:ext cx="10728655" cy="777240"/>
          </a:xfrm>
          <a:prstGeom prst="rect">
            <a:avLst/>
          </a:prstGeom>
          <a:noFill/>
        </p:spPr>
        <p:txBody>
          <a:bodyPr wrap="square" lIns="0" tIns="0" rIns="0" bIns="0">
            <a:spAutoFit/>
          </a:bodyPr>
          <a:lstStyle/>
          <a:p>
            <a:pPr>
              <a:defRPr sz="3000" b="1">
                <a:solidFill>
                  <a:srgbClr val="FFFFFF"/>
                </a:solidFill>
                <a:latin typeface="Arial"/>
              </a:defRPr>
            </a:pPr>
            <a:r>
              <a:t>Frontend Implementation: Control Center &amp; Forms</a:t>
            </a:r>
          </a:p>
          <a:p>
            <a:pPr>
              <a:spcBef>
                <a:spcPts val="300"/>
              </a:spcBef>
              <a:defRPr sz="1500">
                <a:solidFill>
                  <a:srgbClr val="94A3B8"/>
                </a:solidFill>
                <a:latin typeface="Arial"/>
              </a:defRPr>
            </a:pPr>
            <a:r>
              <a:t>Administrative event lifecycle management, real-time KPI metrics, and input validation</a:t>
            </a:r>
          </a:p>
        </p:txBody>
      </p:sp>
      <p:sp>
        <p:nvSpPr>
          <p:cNvPr id="5" name="Rounded Rectangle 4"/>
          <p:cNvSpPr/>
          <p:nvPr/>
        </p:nvSpPr>
        <p:spPr>
          <a:xfrm>
            <a:off x="731520" y="1691640"/>
            <a:ext cx="5120640" cy="393192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2_admin_dashboard.png"/>
          <p:cNvPicPr>
            <a:picLocks noChangeAspect="1"/>
          </p:cNvPicPr>
          <p:nvPr/>
        </p:nvPicPr>
        <p:blipFill>
          <a:blip r:embed="rId2"/>
          <a:stretch>
            <a:fillRect/>
          </a:stretch>
        </p:blipFill>
        <p:spPr>
          <a:xfrm>
            <a:off x="868680" y="1783080"/>
            <a:ext cx="4846320" cy="3028950"/>
          </a:xfrm>
          <a:prstGeom prst="rect">
            <a:avLst/>
          </a:prstGeom>
        </p:spPr>
      </p:pic>
      <p:sp>
        <p:nvSpPr>
          <p:cNvPr id="7" name="TextBox 6"/>
          <p:cNvSpPr txBox="1"/>
          <p:nvPr/>
        </p:nvSpPr>
        <p:spPr>
          <a:xfrm>
            <a:off x="731520" y="5715000"/>
            <a:ext cx="5120640" cy="731520"/>
          </a:xfrm>
          <a:prstGeom prst="rect">
            <a:avLst/>
          </a:prstGeom>
          <a:noFill/>
        </p:spPr>
        <p:txBody>
          <a:bodyPr wrap="square">
            <a:spAutoFit/>
          </a:bodyPr>
          <a:lstStyle/>
          <a:p>
            <a:pPr>
              <a:defRPr b="1" sz="1500">
                <a:solidFill>
                  <a:srgbClr val="10B981"/>
                </a:solidFill>
              </a:defRPr>
            </a:pPr>
            <a:r>
              <a:t>Admin Control Plane &amp; Analytics</a:t>
            </a:r>
          </a:p>
          <a:p>
            <a:pPr>
              <a:defRPr sz="1300">
                <a:solidFill>
                  <a:srgbClr val="94A3B8"/>
                </a:solidFill>
              </a:defRPr>
            </a:pPr>
            <a:r>
              <a:t>Live telemetry cards (Total Events, Active Signups, Capacity) with searchable event table.</a:t>
            </a:r>
          </a:p>
        </p:txBody>
      </p:sp>
      <p:sp>
        <p:nvSpPr>
          <p:cNvPr id="8" name="Rounded Rectangle 7"/>
          <p:cNvSpPr/>
          <p:nvPr/>
        </p:nvSpPr>
        <p:spPr>
          <a:xfrm>
            <a:off x="6309360" y="1691640"/>
            <a:ext cx="5120640" cy="393192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3_create_event_form.png"/>
          <p:cNvPicPr>
            <a:picLocks noChangeAspect="1"/>
          </p:cNvPicPr>
          <p:nvPr/>
        </p:nvPicPr>
        <p:blipFill>
          <a:blip r:embed="rId3"/>
          <a:stretch>
            <a:fillRect/>
          </a:stretch>
        </p:blipFill>
        <p:spPr>
          <a:xfrm>
            <a:off x="6446520" y="1783080"/>
            <a:ext cx="4846320" cy="3028950"/>
          </a:xfrm>
          <a:prstGeom prst="rect">
            <a:avLst/>
          </a:prstGeom>
        </p:spPr>
      </p:pic>
      <p:sp>
        <p:nvSpPr>
          <p:cNvPr id="10" name="TextBox 9"/>
          <p:cNvSpPr txBox="1"/>
          <p:nvPr/>
        </p:nvSpPr>
        <p:spPr>
          <a:xfrm>
            <a:off x="6309360" y="5715000"/>
            <a:ext cx="5120640" cy="731520"/>
          </a:xfrm>
          <a:prstGeom prst="rect">
            <a:avLst/>
          </a:prstGeom>
          <a:noFill/>
        </p:spPr>
        <p:txBody>
          <a:bodyPr wrap="square">
            <a:spAutoFit/>
          </a:bodyPr>
          <a:lstStyle/>
          <a:p>
            <a:pPr>
              <a:defRPr b="1" sz="1500">
                <a:solidFill>
                  <a:srgbClr val="F59E0B"/>
                </a:solidFill>
              </a:defRPr>
            </a:pPr>
            <a:r>
              <a:t>Event Lifecycle Creation &amp; Edit Form</a:t>
            </a:r>
          </a:p>
          <a:p>
            <a:pPr>
              <a:defRPr sz="1300">
                <a:solidFill>
                  <a:srgbClr val="94A3B8"/>
                </a:solidFill>
              </a:defRPr>
            </a:pPr>
            <a:r>
              <a:t>Comprehensive form modal with Bean Validation for dates, venues, capacities, and media URLs.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82234"/>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6B6D4"/>
                </a:solidFill>
                <a:latin typeface="Arial"/>
              </a:defRPr>
            </a:pPr>
            <a:r>
              <a:t>DATA ENGINEERING</a:t>
            </a:r>
          </a:p>
        </p:txBody>
      </p:sp>
      <p:sp>
        <p:nvSpPr>
          <p:cNvPr id="4" name="TextBox 3"/>
          <p:cNvSpPr txBox="1"/>
          <p:nvPr/>
        </p:nvSpPr>
        <p:spPr>
          <a:xfrm>
            <a:off x="731520" y="731520"/>
            <a:ext cx="10728655" cy="777240"/>
          </a:xfrm>
          <a:prstGeom prst="rect">
            <a:avLst/>
          </a:prstGeom>
          <a:noFill/>
        </p:spPr>
        <p:txBody>
          <a:bodyPr wrap="square" lIns="0" tIns="0" rIns="0" bIns="0">
            <a:spAutoFit/>
          </a:bodyPr>
          <a:lstStyle/>
          <a:p>
            <a:pPr>
              <a:defRPr sz="3000" b="1">
                <a:solidFill>
                  <a:srgbClr val="FFFFFF"/>
                </a:solidFill>
                <a:latin typeface="Arial"/>
              </a:defRPr>
            </a:pPr>
            <a:r>
              <a:t>Database Design &amp; Relational Foundation</a:t>
            </a:r>
          </a:p>
          <a:p>
            <a:pPr>
              <a:spcBef>
                <a:spcPts val="300"/>
              </a:spcBef>
              <a:defRPr sz="1500">
                <a:solidFill>
                  <a:srgbClr val="94A3B8"/>
                </a:solidFill>
                <a:latin typeface="Arial"/>
              </a:defRPr>
            </a:pPr>
            <a:r>
              <a:t>3NF normalization, transactional consistency, and versioned migration governance</a:t>
            </a:r>
          </a:p>
        </p:txBody>
      </p:sp>
      <p:sp>
        <p:nvSpPr>
          <p:cNvPr id="5" name="Rounded Rectangle 4"/>
          <p:cNvSpPr/>
          <p:nvPr/>
        </p:nvSpPr>
        <p:spPr>
          <a:xfrm>
            <a:off x="731520" y="1737360"/>
            <a:ext cx="3337560" cy="457200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2971800" cy="4206240"/>
          </a:xfrm>
          <a:prstGeom prst="rect">
            <a:avLst/>
          </a:prstGeom>
          <a:noFill/>
        </p:spPr>
        <p:txBody>
          <a:bodyPr wrap="square">
            <a:spAutoFit/>
          </a:bodyPr>
          <a:lstStyle/>
          <a:p>
            <a:pPr>
              <a:defRPr sz="1900" b="1">
                <a:solidFill>
                  <a:srgbClr val="6366F1"/>
                </a:solidFill>
              </a:defRPr>
            </a:pPr>
            <a:r>
              <a:t>Third Normal Form (3NF)</a:t>
            </a:r>
          </a:p>
          <a:p>
            <a:pPr>
              <a:spcBef>
                <a:spcPts val="1200"/>
              </a:spcBef>
            </a:pPr>
            <a:r>
              <a:rPr b="1" sz="1500">
                <a:solidFill>
                  <a:srgbClr val="FFFFFF"/>
                </a:solidFill>
              </a:rPr>
              <a:t>• Zero Transitive Dependencies: </a:t>
            </a:r>
            <a:r>
              <a:rPr sz="1400">
                <a:solidFill>
                  <a:srgbClr val="E2E8F0"/>
                </a:solidFill>
              </a:rPr>
              <a:t>Every non-key attribute is strictly dependent on the primary key.</a:t>
            </a:r>
          </a:p>
          <a:p>
            <a:pPr>
              <a:spcBef>
                <a:spcPts val="1200"/>
              </a:spcBef>
            </a:pPr>
            <a:r>
              <a:rPr b="1" sz="1500">
                <a:solidFill>
                  <a:srgbClr val="FFFFFF"/>
                </a:solidFill>
              </a:rPr>
              <a:t>• Entity Decoupling: </a:t>
            </a:r>
            <a:r>
              <a:rPr sz="1400">
                <a:solidFill>
                  <a:srgbClr val="E2E8F0"/>
                </a:solidFill>
              </a:rPr>
              <a:t>User identity records are cleanly isolated from event metadata and media blobs.</a:t>
            </a:r>
          </a:p>
          <a:p>
            <a:pPr>
              <a:spcBef>
                <a:spcPts val="1200"/>
              </a:spcBef>
            </a:pPr>
            <a:r>
              <a:rPr b="1" sz="1500">
                <a:solidFill>
                  <a:srgbClr val="FFFFFF"/>
                </a:solidFill>
              </a:rPr>
              <a:t>• Associative Entity: </a:t>
            </a:r>
            <a:r>
              <a:rPr sz="1400">
                <a:solidFill>
                  <a:srgbClr val="E2E8F0"/>
                </a:solidFill>
              </a:rPr>
              <a:t>`registrations` table resolves the many-to-many relationship cleanly.</a:t>
            </a:r>
          </a:p>
        </p:txBody>
      </p:sp>
      <p:sp>
        <p:nvSpPr>
          <p:cNvPr id="7" name="Rounded Rectangle 6"/>
          <p:cNvSpPr/>
          <p:nvPr/>
        </p:nvSpPr>
        <p:spPr>
          <a:xfrm>
            <a:off x="4434840" y="1737360"/>
            <a:ext cx="3337560" cy="457200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920240"/>
            <a:ext cx="2971800" cy="4206240"/>
          </a:xfrm>
          <a:prstGeom prst="rect">
            <a:avLst/>
          </a:prstGeom>
          <a:noFill/>
        </p:spPr>
        <p:txBody>
          <a:bodyPr wrap="square">
            <a:spAutoFit/>
          </a:bodyPr>
          <a:lstStyle/>
          <a:p>
            <a:pPr>
              <a:defRPr sz="1900" b="1">
                <a:solidFill>
                  <a:srgbClr val="06B6D4"/>
                </a:solidFill>
              </a:defRPr>
            </a:pPr>
            <a:r>
              <a:t>Flyway Migration Authority</a:t>
            </a:r>
          </a:p>
          <a:p>
            <a:pPr>
              <a:spcBef>
                <a:spcPts val="1200"/>
              </a:spcBef>
            </a:pPr>
            <a:r>
              <a:rPr b="1" sz="1500">
                <a:solidFill>
                  <a:srgbClr val="FFFFFF"/>
                </a:solidFill>
              </a:rPr>
              <a:t>• V1__Initial_Schema.sql: </a:t>
            </a:r>
            <a:r>
              <a:rPr sz="1400">
                <a:solidFill>
                  <a:srgbClr val="E2E8F0"/>
                </a:solidFill>
              </a:rPr>
              <a:t>Baseline tables for users, events, registrations with PK/FK constraints.</a:t>
            </a:r>
          </a:p>
          <a:p>
            <a:pPr>
              <a:spcBef>
                <a:spcPts val="1200"/>
              </a:spcBef>
            </a:pPr>
            <a:r>
              <a:rPr b="1" sz="1500">
                <a:solidFill>
                  <a:srgbClr val="FFFFFF"/>
                </a:solidFill>
              </a:rPr>
              <a:t>• V2__Add_Image_Blob.sql: </a:t>
            </a:r>
            <a:r>
              <a:rPr sz="1400">
                <a:solidFill>
                  <a:srgbClr val="E2E8F0"/>
                </a:solidFill>
              </a:rPr>
              <a:t>Portable database-backed media storage columns (MEDIUMBLOB).</a:t>
            </a:r>
          </a:p>
          <a:p>
            <a:pPr>
              <a:spcBef>
                <a:spcPts val="1200"/>
              </a:spcBef>
            </a:pPr>
            <a:r>
              <a:rPr b="1" sz="1500">
                <a:solidFill>
                  <a:srgbClr val="FFFFFF"/>
                </a:solidFill>
              </a:rPr>
              <a:t>• V3__Indexes_Integrity.sql: </a:t>
            </a:r>
            <a:r>
              <a:rPr sz="1400">
                <a:solidFill>
                  <a:srgbClr val="E2E8F0"/>
                </a:solidFill>
              </a:rPr>
              <a:t>Compound indexes and check constraints for query-aware analytics.</a:t>
            </a:r>
          </a:p>
        </p:txBody>
      </p:sp>
      <p:sp>
        <p:nvSpPr>
          <p:cNvPr id="9" name="Rounded Rectangle 8"/>
          <p:cNvSpPr/>
          <p:nvPr/>
        </p:nvSpPr>
        <p:spPr>
          <a:xfrm>
            <a:off x="8138160" y="1737360"/>
            <a:ext cx="3337560" cy="457200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920240"/>
            <a:ext cx="2971800" cy="4206240"/>
          </a:xfrm>
          <a:prstGeom prst="rect">
            <a:avLst/>
          </a:prstGeom>
          <a:noFill/>
        </p:spPr>
        <p:txBody>
          <a:bodyPr wrap="square">
            <a:spAutoFit/>
          </a:bodyPr>
          <a:lstStyle/>
          <a:p>
            <a:pPr>
              <a:defRPr sz="1900" b="1">
                <a:solidFill>
                  <a:srgbClr val="10B981"/>
                </a:solidFill>
              </a:defRPr>
            </a:pPr>
            <a:r>
              <a:t>Performance &amp; Locking</a:t>
            </a:r>
          </a:p>
          <a:p>
            <a:pPr>
              <a:spcBef>
                <a:spcPts val="1200"/>
              </a:spcBef>
            </a:pPr>
            <a:r>
              <a:rPr b="1" sz="1500">
                <a:solidFill>
                  <a:srgbClr val="FFFFFF"/>
                </a:solidFill>
              </a:rPr>
              <a:t>• Query-Aware Indexing: </a:t>
            </a:r>
            <a:r>
              <a:rPr sz="1400">
                <a:solidFill>
                  <a:srgbClr val="E2E8F0"/>
                </a:solidFill>
              </a:rPr>
              <a:t>Composite indexes on `(date_time)` and `(category, date_time)` optimize discovery.</a:t>
            </a:r>
          </a:p>
          <a:p>
            <a:pPr>
              <a:spcBef>
                <a:spcPts val="1200"/>
              </a:spcBef>
            </a:pPr>
            <a:r>
              <a:rPr b="1" sz="1500">
                <a:solidFill>
                  <a:srgbClr val="FFFFFF"/>
                </a:solidFill>
              </a:rPr>
              <a:t>• Pessimistic Row Lock: </a:t>
            </a:r>
            <a:r>
              <a:rPr sz="1400">
                <a:solidFill>
                  <a:srgbClr val="E2E8F0"/>
                </a:solidFill>
              </a:rPr>
              <a:t>JPA `PESSIMISTIC_WRITE` locks the event row during registration to eliminate race conditions.</a:t>
            </a:r>
          </a:p>
          <a:p>
            <a:pPr>
              <a:spcBef>
                <a:spcPts val="1200"/>
              </a:spcBef>
            </a:pPr>
            <a:r>
              <a:rPr b="1" sz="1500">
                <a:solidFill>
                  <a:srgbClr val="FFFFFF"/>
                </a:solidFill>
              </a:rPr>
              <a:t>• Hibernate Validation: </a:t>
            </a:r>
            <a:r>
              <a:rPr sz="1400">
                <a:solidFill>
                  <a:srgbClr val="E2E8F0"/>
                </a:solidFill>
              </a:rPr>
              <a:t>`DDL_AUTO=validate` prevents silent runtime schema tampering.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82234"/>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6B6D4"/>
                </a:solidFill>
                <a:latin typeface="Arial"/>
              </a:defRPr>
            </a:pPr>
            <a:r>
              <a:t>DATABASE MODEL</a:t>
            </a:r>
          </a:p>
        </p:txBody>
      </p:sp>
      <p:sp>
        <p:nvSpPr>
          <p:cNvPr id="4" name="TextBox 3"/>
          <p:cNvSpPr txBox="1"/>
          <p:nvPr/>
        </p:nvSpPr>
        <p:spPr>
          <a:xfrm>
            <a:off x="731520" y="731520"/>
            <a:ext cx="10728655" cy="777240"/>
          </a:xfrm>
          <a:prstGeom prst="rect">
            <a:avLst/>
          </a:prstGeom>
          <a:noFill/>
        </p:spPr>
        <p:txBody>
          <a:bodyPr wrap="square" lIns="0" tIns="0" rIns="0" bIns="0">
            <a:spAutoFit/>
          </a:bodyPr>
          <a:lstStyle/>
          <a:p>
            <a:pPr>
              <a:defRPr sz="3000" b="1">
                <a:solidFill>
                  <a:srgbClr val="FFFFFF"/>
                </a:solidFill>
                <a:latin typeface="Arial"/>
              </a:defRPr>
            </a:pPr>
            <a:r>
              <a:t>Entity-Relationship (ER) Diagram</a:t>
            </a:r>
          </a:p>
          <a:p>
            <a:pPr>
              <a:spcBef>
                <a:spcPts val="300"/>
              </a:spcBef>
              <a:defRPr sz="1500">
                <a:solidFill>
                  <a:srgbClr val="94A3B8"/>
                </a:solidFill>
                <a:latin typeface="Arial"/>
              </a:defRPr>
            </a:pPr>
            <a:r>
              <a:t>Normalized relational schema with referential integrity, foreign keys, and unique constraints</a:t>
            </a:r>
          </a:p>
        </p:txBody>
      </p:sp>
      <p:sp>
        <p:nvSpPr>
          <p:cNvPr id="5" name="Rounded Rectangle 4"/>
          <p:cNvSpPr/>
          <p:nvPr/>
        </p:nvSpPr>
        <p:spPr>
          <a:xfrm>
            <a:off x="731520" y="1691640"/>
            <a:ext cx="7132320" cy="466344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r_diagram.png"/>
          <p:cNvPicPr>
            <a:picLocks noChangeAspect="1"/>
          </p:cNvPicPr>
          <p:nvPr/>
        </p:nvPicPr>
        <p:blipFill>
          <a:blip r:embed="rId2"/>
          <a:stretch>
            <a:fillRect/>
          </a:stretch>
        </p:blipFill>
        <p:spPr>
          <a:xfrm>
            <a:off x="868680" y="1828800"/>
            <a:ext cx="6858000" cy="3714750"/>
          </a:xfrm>
          <a:prstGeom prst="rect">
            <a:avLst/>
          </a:prstGeom>
        </p:spPr>
      </p:pic>
      <p:sp>
        <p:nvSpPr>
          <p:cNvPr id="7" name="Rounded Rectangle 6"/>
          <p:cNvSpPr/>
          <p:nvPr/>
        </p:nvSpPr>
        <p:spPr>
          <a:xfrm>
            <a:off x="8046720" y="1691640"/>
            <a:ext cx="3413455" cy="466344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874519"/>
            <a:ext cx="3047695" cy="4297680"/>
          </a:xfrm>
          <a:prstGeom prst="rect">
            <a:avLst/>
          </a:prstGeom>
          <a:noFill/>
        </p:spPr>
        <p:txBody>
          <a:bodyPr wrap="square">
            <a:spAutoFit/>
          </a:bodyPr>
          <a:lstStyle/>
          <a:p>
            <a:pPr>
              <a:defRPr sz="2000" b="1">
                <a:solidFill>
                  <a:srgbClr val="6366F1"/>
                </a:solidFill>
              </a:defRPr>
            </a:pPr>
            <a:r>
              <a:t>Relational Semantics</a:t>
            </a:r>
          </a:p>
          <a:p>
            <a:pPr>
              <a:spcBef>
                <a:spcPts val="800"/>
              </a:spcBef>
            </a:pPr>
            <a:r>
              <a:rPr b="1" sz="1400">
                <a:solidFill>
                  <a:srgbClr val="FFFFFF"/>
                </a:solidFill>
              </a:rPr>
              <a:t>• USERS (1) to REGISTRATIONS (N): </a:t>
            </a:r>
            <a:r>
              <a:rPr sz="1300">
                <a:solidFill>
                  <a:srgbClr val="E2E8F0"/>
                </a:solidFill>
              </a:rPr>
              <a:t>One student account can express interest in multiple campus events.</a:t>
            </a:r>
          </a:p>
          <a:p>
            <a:pPr>
              <a:spcBef>
                <a:spcPts val="800"/>
              </a:spcBef>
            </a:pPr>
            <a:r>
              <a:rPr b="1" sz="1400">
                <a:solidFill>
                  <a:srgbClr val="FFFFFF"/>
                </a:solidFill>
              </a:rPr>
              <a:t>• EVENTS (1) to REGISTRATIONS (N): </a:t>
            </a:r>
            <a:r>
              <a:rPr sz="1300">
                <a:solidFill>
                  <a:srgbClr val="E2E8F0"/>
                </a:solidFill>
              </a:rPr>
              <a:t>Each campus event can receive registrations from multiple student users.</a:t>
            </a:r>
          </a:p>
          <a:p>
            <a:pPr>
              <a:spcBef>
                <a:spcPts val="800"/>
              </a:spcBef>
            </a:pPr>
            <a:r>
              <a:rPr b="1" sz="1400">
                <a:solidFill>
                  <a:srgbClr val="FFFFFF"/>
                </a:solidFill>
              </a:rPr>
              <a:t>• Compound Unique Constraint: </a:t>
            </a:r>
            <a:r>
              <a:rPr sz="1300">
                <a:solidFill>
                  <a:srgbClr val="E2E8F0"/>
                </a:solidFill>
              </a:rPr>
              <a:t>`UNIQUE (user_id, event_id)` enforces that a user registers for an event exactly once.</a:t>
            </a:r>
          </a:p>
          <a:p>
            <a:pPr>
              <a:spcBef>
                <a:spcPts val="800"/>
              </a:spcBef>
            </a:pPr>
            <a:r>
              <a:rPr b="1" sz="1400">
                <a:solidFill>
                  <a:srgbClr val="FFFFFF"/>
                </a:solidFill>
              </a:rPr>
              <a:t>• Cascading Deletion Policy: </a:t>
            </a:r>
            <a:r>
              <a:rPr sz="1300">
                <a:solidFill>
                  <a:srgbClr val="E2E8F0"/>
                </a:solidFill>
              </a:rPr>
              <a:t>`ON DELETE CASCADE` guarantees referential cleanliness if an event is cancelled.</a:t>
            </a:r>
          </a:p>
          <a:p>
            <a:pPr>
              <a:spcBef>
                <a:spcPts val="800"/>
              </a:spcBef>
            </a:pPr>
            <a:r>
              <a:rPr b="1" sz="1400">
                <a:solidFill>
                  <a:srgbClr val="FFFFFF"/>
                </a:solidFill>
              </a:rPr>
              <a:t>• Integrity Check Constraints: </a:t>
            </a:r>
            <a:r>
              <a:rPr sz="1300">
                <a:solidFill>
                  <a:srgbClr val="E2E8F0"/>
                </a:solidFill>
              </a:rPr>
              <a:t>`CHECK (max_capacity &gt; 0)` and status enumeration check.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82234"/>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6B6D4"/>
                </a:solidFill>
                <a:latin typeface="Arial"/>
              </a:defRPr>
            </a:pPr>
            <a:r>
              <a:t>SCHEMA SPECIFICATION</a:t>
            </a:r>
          </a:p>
        </p:txBody>
      </p:sp>
      <p:sp>
        <p:nvSpPr>
          <p:cNvPr id="4" name="TextBox 3"/>
          <p:cNvSpPr txBox="1"/>
          <p:nvPr/>
        </p:nvSpPr>
        <p:spPr>
          <a:xfrm>
            <a:off x="731520" y="731520"/>
            <a:ext cx="10728655" cy="777240"/>
          </a:xfrm>
          <a:prstGeom prst="rect">
            <a:avLst/>
          </a:prstGeom>
          <a:noFill/>
        </p:spPr>
        <p:txBody>
          <a:bodyPr wrap="square" lIns="0" tIns="0" rIns="0" bIns="0">
            <a:spAutoFit/>
          </a:bodyPr>
          <a:lstStyle/>
          <a:p>
            <a:pPr>
              <a:defRPr sz="3000" b="1">
                <a:solidFill>
                  <a:srgbClr val="FFFFFF"/>
                </a:solidFill>
                <a:latin typeface="Arial"/>
              </a:defRPr>
            </a:pPr>
            <a:r>
              <a:t>Database Tables &amp; Schema Definition</a:t>
            </a:r>
          </a:p>
          <a:p>
            <a:pPr>
              <a:spcBef>
                <a:spcPts val="300"/>
              </a:spcBef>
              <a:defRPr sz="1500">
                <a:solidFill>
                  <a:srgbClr val="94A3B8"/>
                </a:solidFill>
                <a:latin typeface="Arial"/>
              </a:defRPr>
            </a:pPr>
            <a:r>
              <a:t>Data definition language (DDL), column types, primary/foreign keys, and constraints</a:t>
            </a:r>
          </a:p>
        </p:txBody>
      </p:sp>
      <p:sp>
        <p:nvSpPr>
          <p:cNvPr id="5" name="Rounded Rectangle 4"/>
          <p:cNvSpPr/>
          <p:nvPr/>
        </p:nvSpPr>
        <p:spPr>
          <a:xfrm>
            <a:off x="731520" y="1691640"/>
            <a:ext cx="5120640" cy="214884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4754880" cy="365760"/>
          </a:xfrm>
          <a:prstGeom prst="rect">
            <a:avLst/>
          </a:prstGeom>
          <a:noFill/>
        </p:spPr>
        <p:txBody>
          <a:bodyPr wrap="none">
            <a:spAutoFit/>
          </a:bodyPr>
          <a:lstStyle/>
          <a:p>
            <a:pPr>
              <a:defRPr sz="1500" b="1">
                <a:solidFill>
                  <a:srgbClr val="6366F1"/>
                </a:solidFill>
              </a:defRPr>
            </a:pPr>
            <a:r>
              <a:t>1. users Table (Identity)</a:t>
            </a:r>
          </a:p>
        </p:txBody>
      </p:sp>
      <p:graphicFrame>
        <p:nvGraphicFramePr>
          <p:cNvPr id="7" name="Table 6"/>
          <p:cNvGraphicFramePr>
            <a:graphicFrameLocks noGrp="1"/>
          </p:cNvGraphicFramePr>
          <p:nvPr/>
        </p:nvGraphicFramePr>
        <p:xfrm>
          <a:off x="914400" y="2103120"/>
          <a:ext cx="4754880" cy="1554480"/>
        </p:xfrm>
        <a:graphic>
          <a:graphicData uri="http://schemas.openxmlformats.org/drawingml/2006/table">
            <a:tbl>
              <a:tblPr firstRow="1" bandRow="1">
                <a:tableStyleId>{5C22544A-7EE6-4342-B048-85BDC9FD1C3A}</a:tableStyleId>
              </a:tblPr>
              <a:tblGrid>
                <a:gridCol w="1097280"/>
                <a:gridCol w="1280160"/>
                <a:gridCol w="1097280"/>
                <a:gridCol w="1280160"/>
              </a:tblGrid>
              <a:tr h="388620">
                <a:tc>
                  <a:txBody>
                    <a:bodyPr/>
                    <a:lstStyle/>
                    <a:p>
                      <a:pPr>
                        <a:defRPr b="1" sz="1100">
                          <a:solidFill>
                            <a:srgbClr val="06B6D4"/>
                          </a:solidFill>
                          <a:latin typeface="Arial"/>
                        </a:defRPr>
                      </a:pPr>
                      <a:r>
                        <a:t>Column</a:t>
                      </a:r>
                    </a:p>
                  </a:txBody>
                  <a:tcPr>
                    <a:solidFill>
                      <a:srgbClr val="121A28"/>
                    </a:solidFill>
                  </a:tcPr>
                </a:tc>
                <a:tc>
                  <a:txBody>
                    <a:bodyPr/>
                    <a:lstStyle/>
                    <a:p>
                      <a:pPr>
                        <a:defRPr b="1" sz="1100">
                          <a:solidFill>
                            <a:srgbClr val="06B6D4"/>
                          </a:solidFill>
                          <a:latin typeface="Arial"/>
                        </a:defRPr>
                      </a:pPr>
                      <a:r>
                        <a:t>Data Type</a:t>
                      </a:r>
                    </a:p>
                  </a:txBody>
                  <a:tcPr>
                    <a:solidFill>
                      <a:srgbClr val="121A28"/>
                    </a:solidFill>
                  </a:tcPr>
                </a:tc>
                <a:tc>
                  <a:txBody>
                    <a:bodyPr/>
                    <a:lstStyle/>
                    <a:p>
                      <a:pPr>
                        <a:defRPr b="1" sz="1100">
                          <a:solidFill>
                            <a:srgbClr val="06B6D4"/>
                          </a:solidFill>
                          <a:latin typeface="Arial"/>
                        </a:defRPr>
                      </a:pPr>
                      <a:r>
                        <a:t>Constraint</a:t>
                      </a:r>
                    </a:p>
                  </a:txBody>
                  <a:tcPr>
                    <a:solidFill>
                      <a:srgbClr val="121A28"/>
                    </a:solidFill>
                  </a:tcPr>
                </a:tc>
                <a:tc>
                  <a:txBody>
                    <a:bodyPr/>
                    <a:lstStyle/>
                    <a:p>
                      <a:pPr>
                        <a:defRPr b="1" sz="1100">
                          <a:solidFill>
                            <a:srgbClr val="06B6D4"/>
                          </a:solidFill>
                          <a:latin typeface="Arial"/>
                        </a:defRPr>
                      </a:pPr>
                      <a:r>
                        <a:t>Description</a:t>
                      </a:r>
                    </a:p>
                  </a:txBody>
                  <a:tcPr>
                    <a:solidFill>
                      <a:srgbClr val="121A28"/>
                    </a:solidFill>
                  </a:tcPr>
                </a:tc>
              </a:tr>
              <a:tr h="388620">
                <a:tc>
                  <a:txBody>
                    <a:bodyPr/>
                    <a:lstStyle/>
                    <a:p>
                      <a:pPr>
                        <a:defRPr sz="1000">
                          <a:solidFill>
                            <a:srgbClr val="E2E8F0"/>
                          </a:solidFill>
                          <a:latin typeface="Arial"/>
                        </a:defRPr>
                      </a:pPr>
                      <a:r>
                        <a:t>id</a:t>
                      </a:r>
                    </a:p>
                  </a:txBody>
                  <a:tcPr>
                    <a:solidFill>
                      <a:srgbClr val="182234"/>
                    </a:solidFill>
                  </a:tcPr>
                </a:tc>
                <a:tc>
                  <a:txBody>
                    <a:bodyPr/>
                    <a:lstStyle/>
                    <a:p>
                      <a:pPr>
                        <a:defRPr sz="1000">
                          <a:solidFill>
                            <a:srgbClr val="E2E8F0"/>
                          </a:solidFill>
                          <a:latin typeface="Arial"/>
                        </a:defRPr>
                      </a:pPr>
                      <a:r>
                        <a:t>BIGINT</a:t>
                      </a:r>
                    </a:p>
                  </a:txBody>
                  <a:tcPr>
                    <a:solidFill>
                      <a:srgbClr val="182234"/>
                    </a:solidFill>
                  </a:tcPr>
                </a:tc>
                <a:tc>
                  <a:txBody>
                    <a:bodyPr/>
                    <a:lstStyle/>
                    <a:p>
                      <a:pPr>
                        <a:defRPr sz="1000">
                          <a:solidFill>
                            <a:srgbClr val="E2E8F0"/>
                          </a:solidFill>
                          <a:latin typeface="Arial"/>
                        </a:defRPr>
                      </a:pPr>
                      <a:r>
                        <a:t>PK, AUTO_INC</a:t>
                      </a:r>
                    </a:p>
                  </a:txBody>
                  <a:tcPr>
                    <a:solidFill>
                      <a:srgbClr val="182234"/>
                    </a:solidFill>
                  </a:tcPr>
                </a:tc>
                <a:tc>
                  <a:txBody>
                    <a:bodyPr/>
                    <a:lstStyle/>
                    <a:p>
                      <a:pPr>
                        <a:defRPr sz="1000">
                          <a:solidFill>
                            <a:srgbClr val="E2E8F0"/>
                          </a:solidFill>
                          <a:latin typeface="Arial"/>
                        </a:defRPr>
                      </a:pPr>
                      <a:r>
                        <a:t>Unique User ID</a:t>
                      </a:r>
                    </a:p>
                  </a:txBody>
                  <a:tcPr>
                    <a:solidFill>
                      <a:srgbClr val="182234"/>
                    </a:solidFill>
                  </a:tcPr>
                </a:tc>
              </a:tr>
              <a:tr h="388620">
                <a:tc>
                  <a:txBody>
                    <a:bodyPr/>
                    <a:lstStyle/>
                    <a:p>
                      <a:pPr>
                        <a:defRPr sz="1000">
                          <a:solidFill>
                            <a:srgbClr val="E2E8F0"/>
                          </a:solidFill>
                          <a:latin typeface="Arial"/>
                        </a:defRPr>
                      </a:pPr>
                      <a:r>
                        <a:t>username</a:t>
                      </a:r>
                    </a:p>
                  </a:txBody>
                  <a:tcPr>
                    <a:solidFill>
                      <a:srgbClr val="121A28"/>
                    </a:solidFill>
                  </a:tcPr>
                </a:tc>
                <a:tc>
                  <a:txBody>
                    <a:bodyPr/>
                    <a:lstStyle/>
                    <a:p>
                      <a:pPr>
                        <a:defRPr sz="1000">
                          <a:solidFill>
                            <a:srgbClr val="E2E8F0"/>
                          </a:solidFill>
                          <a:latin typeface="Arial"/>
                        </a:defRPr>
                      </a:pPr>
                      <a:r>
                        <a:t>VARCHAR(50)</a:t>
                      </a:r>
                    </a:p>
                  </a:txBody>
                  <a:tcPr>
                    <a:solidFill>
                      <a:srgbClr val="121A28"/>
                    </a:solidFill>
                  </a:tcPr>
                </a:tc>
                <a:tc>
                  <a:txBody>
                    <a:bodyPr/>
                    <a:lstStyle/>
                    <a:p>
                      <a:pPr>
                        <a:defRPr sz="1000">
                          <a:solidFill>
                            <a:srgbClr val="E2E8F0"/>
                          </a:solidFill>
                          <a:latin typeface="Arial"/>
                        </a:defRPr>
                      </a:pPr>
                      <a:r>
                        <a:t>NOT NULL, UK</a:t>
                      </a:r>
                    </a:p>
                  </a:txBody>
                  <a:tcPr>
                    <a:solidFill>
                      <a:srgbClr val="121A28"/>
                    </a:solidFill>
                  </a:tcPr>
                </a:tc>
                <a:tc>
                  <a:txBody>
                    <a:bodyPr/>
                    <a:lstStyle/>
                    <a:p>
                      <a:pPr>
                        <a:defRPr sz="1000">
                          <a:solidFill>
                            <a:srgbClr val="E2E8F0"/>
                          </a:solidFill>
                          <a:latin typeface="Arial"/>
                        </a:defRPr>
                      </a:pPr>
                      <a:r>
                        <a:t>Login Identifier</a:t>
                      </a:r>
                    </a:p>
                  </a:txBody>
                  <a:tcPr>
                    <a:solidFill>
                      <a:srgbClr val="121A28"/>
                    </a:solidFill>
                  </a:tcPr>
                </a:tc>
              </a:tr>
              <a:tr h="388620">
                <a:tc>
                  <a:txBody>
                    <a:bodyPr/>
                    <a:lstStyle/>
                    <a:p>
                      <a:pPr>
                        <a:defRPr sz="1000">
                          <a:solidFill>
                            <a:srgbClr val="E2E8F0"/>
                          </a:solidFill>
                          <a:latin typeface="Arial"/>
                        </a:defRPr>
                      </a:pPr>
                      <a:r>
                        <a:t>password</a:t>
                      </a:r>
                    </a:p>
                  </a:txBody>
                  <a:tcPr>
                    <a:solidFill>
                      <a:srgbClr val="182234"/>
                    </a:solidFill>
                  </a:tcPr>
                </a:tc>
                <a:tc>
                  <a:txBody>
                    <a:bodyPr/>
                    <a:lstStyle/>
                    <a:p>
                      <a:pPr>
                        <a:defRPr sz="1000">
                          <a:solidFill>
                            <a:srgbClr val="E2E8F0"/>
                          </a:solidFill>
                          <a:latin typeface="Arial"/>
                        </a:defRPr>
                      </a:pPr>
                      <a:r>
                        <a:t>VARCHAR(255)</a:t>
                      </a:r>
                    </a:p>
                  </a:txBody>
                  <a:tcPr>
                    <a:solidFill>
                      <a:srgbClr val="182234"/>
                    </a:solidFill>
                  </a:tcPr>
                </a:tc>
                <a:tc>
                  <a:txBody>
                    <a:bodyPr/>
                    <a:lstStyle/>
                    <a:p>
                      <a:pPr>
                        <a:defRPr sz="1000">
                          <a:solidFill>
                            <a:srgbClr val="E2E8F0"/>
                          </a:solidFill>
                          <a:latin typeface="Arial"/>
                        </a:defRPr>
                      </a:pPr>
                      <a:r>
                        <a:t>NOT NULL</a:t>
                      </a:r>
                    </a:p>
                  </a:txBody>
                  <a:tcPr>
                    <a:solidFill>
                      <a:srgbClr val="182234"/>
                    </a:solidFill>
                  </a:tcPr>
                </a:tc>
                <a:tc>
                  <a:txBody>
                    <a:bodyPr/>
                    <a:lstStyle/>
                    <a:p>
                      <a:pPr>
                        <a:defRPr sz="1000">
                          <a:solidFill>
                            <a:srgbClr val="E2E8F0"/>
                          </a:solidFill>
                          <a:latin typeface="Arial"/>
                        </a:defRPr>
                      </a:pPr>
                      <a:r>
                        <a:t>BCrypt 60-char Hash</a:t>
                      </a:r>
                    </a:p>
                  </a:txBody>
                  <a:tcPr>
                    <a:solidFill>
                      <a:srgbClr val="182234"/>
                    </a:solidFill>
                  </a:tcPr>
                </a:tc>
              </a:tr>
            </a:tbl>
          </a:graphicData>
        </a:graphic>
      </p:graphicFrame>
      <p:sp>
        <p:nvSpPr>
          <p:cNvPr id="8" name="Rounded Rectangle 7"/>
          <p:cNvSpPr/>
          <p:nvPr/>
        </p:nvSpPr>
        <p:spPr>
          <a:xfrm>
            <a:off x="731520" y="3977639"/>
            <a:ext cx="5120640" cy="237744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23360"/>
            <a:ext cx="4754880" cy="365760"/>
          </a:xfrm>
          <a:prstGeom prst="rect">
            <a:avLst/>
          </a:prstGeom>
          <a:noFill/>
        </p:spPr>
        <p:txBody>
          <a:bodyPr wrap="none">
            <a:spAutoFit/>
          </a:bodyPr>
          <a:lstStyle/>
          <a:p>
            <a:pPr>
              <a:defRPr sz="1500" b="1">
                <a:solidFill>
                  <a:srgbClr val="06B6D4"/>
                </a:solidFill>
              </a:defRPr>
            </a:pPr>
            <a:r>
              <a:t>2. registrations Table (Associative M:N)</a:t>
            </a:r>
          </a:p>
        </p:txBody>
      </p:sp>
      <p:graphicFrame>
        <p:nvGraphicFramePr>
          <p:cNvPr id="10" name="Table 9"/>
          <p:cNvGraphicFramePr>
            <a:graphicFrameLocks noGrp="1"/>
          </p:cNvGraphicFramePr>
          <p:nvPr/>
        </p:nvGraphicFramePr>
        <p:xfrm>
          <a:off x="914400" y="4389120"/>
          <a:ext cx="4754880" cy="1783080"/>
        </p:xfrm>
        <a:graphic>
          <a:graphicData uri="http://schemas.openxmlformats.org/drawingml/2006/table">
            <a:tbl>
              <a:tblPr firstRow="1" bandRow="1">
                <a:tableStyleId>{5C22544A-7EE6-4342-B048-85BDC9FD1C3A}</a:tableStyleId>
              </a:tblPr>
              <a:tblGrid>
                <a:gridCol w="1097280"/>
                <a:gridCol w="1280160"/>
                <a:gridCol w="1097280"/>
                <a:gridCol w="1280160"/>
              </a:tblGrid>
              <a:tr h="356616">
                <a:tc>
                  <a:txBody>
                    <a:bodyPr/>
                    <a:lstStyle/>
                    <a:p>
                      <a:pPr>
                        <a:defRPr b="1" sz="1100">
                          <a:solidFill>
                            <a:srgbClr val="06B6D4"/>
                          </a:solidFill>
                          <a:latin typeface="Arial"/>
                        </a:defRPr>
                      </a:pPr>
                      <a:r>
                        <a:t>Column</a:t>
                      </a:r>
                    </a:p>
                  </a:txBody>
                  <a:tcPr>
                    <a:solidFill>
                      <a:srgbClr val="121A28"/>
                    </a:solidFill>
                  </a:tcPr>
                </a:tc>
                <a:tc>
                  <a:txBody>
                    <a:bodyPr/>
                    <a:lstStyle/>
                    <a:p>
                      <a:pPr>
                        <a:defRPr b="1" sz="1100">
                          <a:solidFill>
                            <a:srgbClr val="06B6D4"/>
                          </a:solidFill>
                          <a:latin typeface="Arial"/>
                        </a:defRPr>
                      </a:pPr>
                      <a:r>
                        <a:t>Data Type</a:t>
                      </a:r>
                    </a:p>
                  </a:txBody>
                  <a:tcPr>
                    <a:solidFill>
                      <a:srgbClr val="121A28"/>
                    </a:solidFill>
                  </a:tcPr>
                </a:tc>
                <a:tc>
                  <a:txBody>
                    <a:bodyPr/>
                    <a:lstStyle/>
                    <a:p>
                      <a:pPr>
                        <a:defRPr b="1" sz="1100">
                          <a:solidFill>
                            <a:srgbClr val="06B6D4"/>
                          </a:solidFill>
                          <a:latin typeface="Arial"/>
                        </a:defRPr>
                      </a:pPr>
                      <a:r>
                        <a:t>Constraint</a:t>
                      </a:r>
                    </a:p>
                  </a:txBody>
                  <a:tcPr>
                    <a:solidFill>
                      <a:srgbClr val="121A28"/>
                    </a:solidFill>
                  </a:tcPr>
                </a:tc>
                <a:tc>
                  <a:txBody>
                    <a:bodyPr/>
                    <a:lstStyle/>
                    <a:p>
                      <a:pPr>
                        <a:defRPr b="1" sz="1100">
                          <a:solidFill>
                            <a:srgbClr val="06B6D4"/>
                          </a:solidFill>
                          <a:latin typeface="Arial"/>
                        </a:defRPr>
                      </a:pPr>
                      <a:r>
                        <a:t>Description</a:t>
                      </a:r>
                    </a:p>
                  </a:txBody>
                  <a:tcPr>
                    <a:solidFill>
                      <a:srgbClr val="121A28"/>
                    </a:solidFill>
                  </a:tcPr>
                </a:tc>
              </a:tr>
              <a:tr h="356616">
                <a:tc>
                  <a:txBody>
                    <a:bodyPr/>
                    <a:lstStyle/>
                    <a:p>
                      <a:pPr>
                        <a:defRPr sz="1000">
                          <a:solidFill>
                            <a:srgbClr val="E2E8F0"/>
                          </a:solidFill>
                          <a:latin typeface="Arial"/>
                        </a:defRPr>
                      </a:pPr>
                      <a:r>
                        <a:t>id</a:t>
                      </a:r>
                    </a:p>
                  </a:txBody>
                  <a:tcPr>
                    <a:solidFill>
                      <a:srgbClr val="182234"/>
                    </a:solidFill>
                  </a:tcPr>
                </a:tc>
                <a:tc>
                  <a:txBody>
                    <a:bodyPr/>
                    <a:lstStyle/>
                    <a:p>
                      <a:pPr>
                        <a:defRPr sz="1000">
                          <a:solidFill>
                            <a:srgbClr val="E2E8F0"/>
                          </a:solidFill>
                          <a:latin typeface="Arial"/>
                        </a:defRPr>
                      </a:pPr>
                      <a:r>
                        <a:t>BIGINT</a:t>
                      </a:r>
                    </a:p>
                  </a:txBody>
                  <a:tcPr>
                    <a:solidFill>
                      <a:srgbClr val="182234"/>
                    </a:solidFill>
                  </a:tcPr>
                </a:tc>
                <a:tc>
                  <a:txBody>
                    <a:bodyPr/>
                    <a:lstStyle/>
                    <a:p>
                      <a:pPr>
                        <a:defRPr sz="1000">
                          <a:solidFill>
                            <a:srgbClr val="E2E8F0"/>
                          </a:solidFill>
                          <a:latin typeface="Arial"/>
                        </a:defRPr>
                      </a:pPr>
                      <a:r>
                        <a:t>PK, AUTO_INC</a:t>
                      </a:r>
                    </a:p>
                  </a:txBody>
                  <a:tcPr>
                    <a:solidFill>
                      <a:srgbClr val="182234"/>
                    </a:solidFill>
                  </a:tcPr>
                </a:tc>
                <a:tc>
                  <a:txBody>
                    <a:bodyPr/>
                    <a:lstStyle/>
                    <a:p>
                      <a:pPr>
                        <a:defRPr sz="1000">
                          <a:solidFill>
                            <a:srgbClr val="E2E8F0"/>
                          </a:solidFill>
                          <a:latin typeface="Arial"/>
                        </a:defRPr>
                      </a:pPr>
                      <a:r>
                        <a:t>Registration ID</a:t>
                      </a:r>
                    </a:p>
                  </a:txBody>
                  <a:tcPr>
                    <a:solidFill>
                      <a:srgbClr val="182234"/>
                    </a:solidFill>
                  </a:tcPr>
                </a:tc>
              </a:tr>
              <a:tr h="356616">
                <a:tc>
                  <a:txBody>
                    <a:bodyPr/>
                    <a:lstStyle/>
                    <a:p>
                      <a:pPr>
                        <a:defRPr sz="1000">
                          <a:solidFill>
                            <a:srgbClr val="E2E8F0"/>
                          </a:solidFill>
                          <a:latin typeface="Arial"/>
                        </a:defRPr>
                      </a:pPr>
                      <a:r>
                        <a:t>user_id</a:t>
                      </a:r>
                    </a:p>
                  </a:txBody>
                  <a:tcPr>
                    <a:solidFill>
                      <a:srgbClr val="121A28"/>
                    </a:solidFill>
                  </a:tcPr>
                </a:tc>
                <a:tc>
                  <a:txBody>
                    <a:bodyPr/>
                    <a:lstStyle/>
                    <a:p>
                      <a:pPr>
                        <a:defRPr sz="1000">
                          <a:solidFill>
                            <a:srgbClr val="E2E8F0"/>
                          </a:solidFill>
                          <a:latin typeface="Arial"/>
                        </a:defRPr>
                      </a:pPr>
                      <a:r>
                        <a:t>BIGINT</a:t>
                      </a:r>
                    </a:p>
                  </a:txBody>
                  <a:tcPr>
                    <a:solidFill>
                      <a:srgbClr val="121A28"/>
                    </a:solidFill>
                  </a:tcPr>
                </a:tc>
                <a:tc>
                  <a:txBody>
                    <a:bodyPr/>
                    <a:lstStyle/>
                    <a:p>
                      <a:pPr>
                        <a:defRPr sz="1000">
                          <a:solidFill>
                            <a:srgbClr val="E2E8F0"/>
                          </a:solidFill>
                          <a:latin typeface="Arial"/>
                        </a:defRPr>
                      </a:pPr>
                      <a:r>
                        <a:t>FK -&gt; users(id)</a:t>
                      </a:r>
                    </a:p>
                  </a:txBody>
                  <a:tcPr>
                    <a:solidFill>
                      <a:srgbClr val="121A28"/>
                    </a:solidFill>
                  </a:tcPr>
                </a:tc>
                <a:tc>
                  <a:txBody>
                    <a:bodyPr/>
                    <a:lstStyle/>
                    <a:p>
                      <a:pPr>
                        <a:defRPr sz="1000">
                          <a:solidFill>
                            <a:srgbClr val="E2E8F0"/>
                          </a:solidFill>
                          <a:latin typeface="Arial"/>
                        </a:defRPr>
                      </a:pPr>
                      <a:r>
                        <a:t>User Reference</a:t>
                      </a:r>
                    </a:p>
                  </a:txBody>
                  <a:tcPr>
                    <a:solidFill>
                      <a:srgbClr val="121A28"/>
                    </a:solidFill>
                  </a:tcPr>
                </a:tc>
              </a:tr>
              <a:tr h="356616">
                <a:tc>
                  <a:txBody>
                    <a:bodyPr/>
                    <a:lstStyle/>
                    <a:p>
                      <a:pPr>
                        <a:defRPr sz="1000">
                          <a:solidFill>
                            <a:srgbClr val="E2E8F0"/>
                          </a:solidFill>
                          <a:latin typeface="Arial"/>
                        </a:defRPr>
                      </a:pPr>
                      <a:r>
                        <a:t>event_id</a:t>
                      </a:r>
                    </a:p>
                  </a:txBody>
                  <a:tcPr>
                    <a:solidFill>
                      <a:srgbClr val="182234"/>
                    </a:solidFill>
                  </a:tcPr>
                </a:tc>
                <a:tc>
                  <a:txBody>
                    <a:bodyPr/>
                    <a:lstStyle/>
                    <a:p>
                      <a:pPr>
                        <a:defRPr sz="1000">
                          <a:solidFill>
                            <a:srgbClr val="E2E8F0"/>
                          </a:solidFill>
                          <a:latin typeface="Arial"/>
                        </a:defRPr>
                      </a:pPr>
                      <a:r>
                        <a:t>BIGINT</a:t>
                      </a:r>
                    </a:p>
                  </a:txBody>
                  <a:tcPr>
                    <a:solidFill>
                      <a:srgbClr val="182234"/>
                    </a:solidFill>
                  </a:tcPr>
                </a:tc>
                <a:tc>
                  <a:txBody>
                    <a:bodyPr/>
                    <a:lstStyle/>
                    <a:p>
                      <a:pPr>
                        <a:defRPr sz="1000">
                          <a:solidFill>
                            <a:srgbClr val="E2E8F0"/>
                          </a:solidFill>
                          <a:latin typeface="Arial"/>
                        </a:defRPr>
                      </a:pPr>
                      <a:r>
                        <a:t>FK -&gt; events(id)</a:t>
                      </a:r>
                    </a:p>
                  </a:txBody>
                  <a:tcPr>
                    <a:solidFill>
                      <a:srgbClr val="182234"/>
                    </a:solidFill>
                  </a:tcPr>
                </a:tc>
                <a:tc>
                  <a:txBody>
                    <a:bodyPr/>
                    <a:lstStyle/>
                    <a:p>
                      <a:pPr>
                        <a:defRPr sz="1000">
                          <a:solidFill>
                            <a:srgbClr val="E2E8F0"/>
                          </a:solidFill>
                          <a:latin typeface="Arial"/>
                        </a:defRPr>
                      </a:pPr>
                      <a:r>
                        <a:t>Event Reference</a:t>
                      </a:r>
                    </a:p>
                  </a:txBody>
                  <a:tcPr>
                    <a:solidFill>
                      <a:srgbClr val="182234"/>
                    </a:solidFill>
                  </a:tcPr>
                </a:tc>
              </a:tr>
              <a:tr h="356616">
                <a:tc>
                  <a:txBody>
                    <a:bodyPr/>
                    <a:lstStyle/>
                    <a:p>
                      <a:pPr>
                        <a:defRPr sz="1000">
                          <a:solidFill>
                            <a:srgbClr val="E2E8F0"/>
                          </a:solidFill>
                          <a:latin typeface="Arial"/>
                        </a:defRPr>
                      </a:pPr>
                      <a:r>
                        <a:t>status</a:t>
                      </a:r>
                    </a:p>
                  </a:txBody>
                  <a:tcPr>
                    <a:solidFill>
                      <a:srgbClr val="121A28"/>
                    </a:solidFill>
                  </a:tcPr>
                </a:tc>
                <a:tc>
                  <a:txBody>
                    <a:bodyPr/>
                    <a:lstStyle/>
                    <a:p>
                      <a:pPr>
                        <a:defRPr sz="1000">
                          <a:solidFill>
                            <a:srgbClr val="E2E8F0"/>
                          </a:solidFill>
                          <a:latin typeface="Arial"/>
                        </a:defRPr>
                      </a:pPr>
                      <a:r>
                        <a:t>VARCHAR(20)</a:t>
                      </a:r>
                    </a:p>
                  </a:txBody>
                  <a:tcPr>
                    <a:solidFill>
                      <a:srgbClr val="121A28"/>
                    </a:solidFill>
                  </a:tcPr>
                </a:tc>
                <a:tc>
                  <a:txBody>
                    <a:bodyPr/>
                    <a:lstStyle/>
                    <a:p>
                      <a:pPr>
                        <a:defRPr sz="1000">
                          <a:solidFill>
                            <a:srgbClr val="E2E8F0"/>
                          </a:solidFill>
                          <a:latin typeface="Arial"/>
                        </a:defRPr>
                      </a:pPr>
                      <a:r>
                        <a:t>CHECK (IN...)</a:t>
                      </a:r>
                    </a:p>
                  </a:txBody>
                  <a:tcPr>
                    <a:solidFill>
                      <a:srgbClr val="121A28"/>
                    </a:solidFill>
                  </a:tcPr>
                </a:tc>
                <a:tc>
                  <a:txBody>
                    <a:bodyPr/>
                    <a:lstStyle/>
                    <a:p>
                      <a:pPr>
                        <a:defRPr sz="1000">
                          <a:solidFill>
                            <a:srgbClr val="E2E8F0"/>
                          </a:solidFill>
                          <a:latin typeface="Arial"/>
                        </a:defRPr>
                      </a:pPr>
                      <a:r>
                        <a:t>Interest Status</a:t>
                      </a:r>
                    </a:p>
                  </a:txBody>
                  <a:tcPr>
                    <a:solidFill>
                      <a:srgbClr val="121A28"/>
                    </a:solidFill>
                  </a:tcPr>
                </a:tc>
              </a:tr>
            </a:tbl>
          </a:graphicData>
        </a:graphic>
      </p:graphicFrame>
      <p:sp>
        <p:nvSpPr>
          <p:cNvPr id="11" name="Rounded Rectangle 10"/>
          <p:cNvSpPr/>
          <p:nvPr/>
        </p:nvSpPr>
        <p:spPr>
          <a:xfrm>
            <a:off x="6217920" y="1691640"/>
            <a:ext cx="5242255" cy="466344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37360"/>
            <a:ext cx="4876495" cy="365760"/>
          </a:xfrm>
          <a:prstGeom prst="rect">
            <a:avLst/>
          </a:prstGeom>
          <a:noFill/>
        </p:spPr>
        <p:txBody>
          <a:bodyPr wrap="none">
            <a:spAutoFit/>
          </a:bodyPr>
          <a:lstStyle/>
          <a:p>
            <a:pPr>
              <a:defRPr sz="1500" b="1">
                <a:solidFill>
                  <a:srgbClr val="10B981"/>
                </a:solidFill>
              </a:defRPr>
            </a:pPr>
            <a:r>
              <a:t>3. events Table (Event Catalogue)</a:t>
            </a:r>
          </a:p>
        </p:txBody>
      </p:sp>
      <p:graphicFrame>
        <p:nvGraphicFramePr>
          <p:cNvPr id="13" name="Table 12"/>
          <p:cNvGraphicFramePr>
            <a:graphicFrameLocks noGrp="1"/>
          </p:cNvGraphicFramePr>
          <p:nvPr/>
        </p:nvGraphicFramePr>
        <p:xfrm>
          <a:off x="6400800" y="2103120"/>
          <a:ext cx="4876495" cy="4069080"/>
        </p:xfrm>
        <a:graphic>
          <a:graphicData uri="http://schemas.openxmlformats.org/drawingml/2006/table">
            <a:tbl>
              <a:tblPr firstRow="1" bandRow="1">
                <a:tableStyleId>{5C22544A-7EE6-4342-B048-85BDC9FD1C3A}</a:tableStyleId>
              </a:tblPr>
              <a:tblGrid>
                <a:gridCol w="1097280"/>
                <a:gridCol w="1280160"/>
                <a:gridCol w="1188720"/>
                <a:gridCol w="1310335"/>
              </a:tblGrid>
              <a:tr h="508635">
                <a:tc>
                  <a:txBody>
                    <a:bodyPr/>
                    <a:lstStyle/>
                    <a:p>
                      <a:pPr>
                        <a:defRPr b="1" sz="1100">
                          <a:solidFill>
                            <a:srgbClr val="10B981"/>
                          </a:solidFill>
                          <a:latin typeface="Arial"/>
                        </a:defRPr>
                      </a:pPr>
                      <a:r>
                        <a:t>Column</a:t>
                      </a:r>
                    </a:p>
                  </a:txBody>
                  <a:tcPr>
                    <a:solidFill>
                      <a:srgbClr val="121A28"/>
                    </a:solidFill>
                  </a:tcPr>
                </a:tc>
                <a:tc>
                  <a:txBody>
                    <a:bodyPr/>
                    <a:lstStyle/>
                    <a:p>
                      <a:pPr>
                        <a:defRPr b="1" sz="1100">
                          <a:solidFill>
                            <a:srgbClr val="10B981"/>
                          </a:solidFill>
                          <a:latin typeface="Arial"/>
                        </a:defRPr>
                      </a:pPr>
                      <a:r>
                        <a:t>Data Type</a:t>
                      </a:r>
                    </a:p>
                  </a:txBody>
                  <a:tcPr>
                    <a:solidFill>
                      <a:srgbClr val="121A28"/>
                    </a:solidFill>
                  </a:tcPr>
                </a:tc>
                <a:tc>
                  <a:txBody>
                    <a:bodyPr/>
                    <a:lstStyle/>
                    <a:p>
                      <a:pPr>
                        <a:defRPr b="1" sz="1100">
                          <a:solidFill>
                            <a:srgbClr val="10B981"/>
                          </a:solidFill>
                          <a:latin typeface="Arial"/>
                        </a:defRPr>
                      </a:pPr>
                      <a:r>
                        <a:t>Constraint</a:t>
                      </a:r>
                    </a:p>
                  </a:txBody>
                  <a:tcPr>
                    <a:solidFill>
                      <a:srgbClr val="121A28"/>
                    </a:solidFill>
                  </a:tcPr>
                </a:tc>
                <a:tc>
                  <a:txBody>
                    <a:bodyPr/>
                    <a:lstStyle/>
                    <a:p>
                      <a:pPr>
                        <a:defRPr b="1" sz="1100">
                          <a:solidFill>
                            <a:srgbClr val="10B981"/>
                          </a:solidFill>
                          <a:latin typeface="Arial"/>
                        </a:defRPr>
                      </a:pPr>
                      <a:r>
                        <a:t>Description</a:t>
                      </a:r>
                    </a:p>
                  </a:txBody>
                  <a:tcPr>
                    <a:solidFill>
                      <a:srgbClr val="121A28"/>
                    </a:solidFill>
                  </a:tcPr>
                </a:tc>
              </a:tr>
              <a:tr h="508635">
                <a:tc>
                  <a:txBody>
                    <a:bodyPr/>
                    <a:lstStyle/>
                    <a:p>
                      <a:pPr>
                        <a:defRPr sz="1000">
                          <a:solidFill>
                            <a:srgbClr val="E2E8F0"/>
                          </a:solidFill>
                          <a:latin typeface="Arial"/>
                        </a:defRPr>
                      </a:pPr>
                      <a:r>
                        <a:t>id</a:t>
                      </a:r>
                    </a:p>
                  </a:txBody>
                  <a:tcPr>
                    <a:solidFill>
                      <a:srgbClr val="182234"/>
                    </a:solidFill>
                  </a:tcPr>
                </a:tc>
                <a:tc>
                  <a:txBody>
                    <a:bodyPr/>
                    <a:lstStyle/>
                    <a:p>
                      <a:pPr>
                        <a:defRPr sz="1000">
                          <a:solidFill>
                            <a:srgbClr val="E2E8F0"/>
                          </a:solidFill>
                          <a:latin typeface="Arial"/>
                        </a:defRPr>
                      </a:pPr>
                      <a:r>
                        <a:t>BIGINT</a:t>
                      </a:r>
                    </a:p>
                  </a:txBody>
                  <a:tcPr>
                    <a:solidFill>
                      <a:srgbClr val="182234"/>
                    </a:solidFill>
                  </a:tcPr>
                </a:tc>
                <a:tc>
                  <a:txBody>
                    <a:bodyPr/>
                    <a:lstStyle/>
                    <a:p>
                      <a:pPr>
                        <a:defRPr sz="1000">
                          <a:solidFill>
                            <a:srgbClr val="E2E8F0"/>
                          </a:solidFill>
                          <a:latin typeface="Arial"/>
                        </a:defRPr>
                      </a:pPr>
                      <a:r>
                        <a:t>PK, AUTO_INC</a:t>
                      </a:r>
                    </a:p>
                  </a:txBody>
                  <a:tcPr>
                    <a:solidFill>
                      <a:srgbClr val="182234"/>
                    </a:solidFill>
                  </a:tcPr>
                </a:tc>
                <a:tc>
                  <a:txBody>
                    <a:bodyPr/>
                    <a:lstStyle/>
                    <a:p>
                      <a:pPr>
                        <a:defRPr sz="1000">
                          <a:solidFill>
                            <a:srgbClr val="E2E8F0"/>
                          </a:solidFill>
                          <a:latin typeface="Arial"/>
                        </a:defRPr>
                      </a:pPr>
                      <a:r>
                        <a:t>Primary Identifier</a:t>
                      </a:r>
                    </a:p>
                  </a:txBody>
                  <a:tcPr>
                    <a:solidFill>
                      <a:srgbClr val="182234"/>
                    </a:solidFill>
                  </a:tcPr>
                </a:tc>
              </a:tr>
              <a:tr h="508635">
                <a:tc>
                  <a:txBody>
                    <a:bodyPr/>
                    <a:lstStyle/>
                    <a:p>
                      <a:pPr>
                        <a:defRPr sz="1000">
                          <a:solidFill>
                            <a:srgbClr val="E2E8F0"/>
                          </a:solidFill>
                          <a:latin typeface="Arial"/>
                        </a:defRPr>
                      </a:pPr>
                      <a:r>
                        <a:t>title</a:t>
                      </a:r>
                    </a:p>
                  </a:txBody>
                  <a:tcPr>
                    <a:solidFill>
                      <a:srgbClr val="121A28"/>
                    </a:solidFill>
                  </a:tcPr>
                </a:tc>
                <a:tc>
                  <a:txBody>
                    <a:bodyPr/>
                    <a:lstStyle/>
                    <a:p>
                      <a:pPr>
                        <a:defRPr sz="1000">
                          <a:solidFill>
                            <a:srgbClr val="E2E8F0"/>
                          </a:solidFill>
                          <a:latin typeface="Arial"/>
                        </a:defRPr>
                      </a:pPr>
                      <a:r>
                        <a:t>VARCHAR(255)</a:t>
                      </a:r>
                    </a:p>
                  </a:txBody>
                  <a:tcPr>
                    <a:solidFill>
                      <a:srgbClr val="121A28"/>
                    </a:solidFill>
                  </a:tcPr>
                </a:tc>
                <a:tc>
                  <a:txBody>
                    <a:bodyPr/>
                    <a:lstStyle/>
                    <a:p>
                      <a:pPr>
                        <a:defRPr sz="1000">
                          <a:solidFill>
                            <a:srgbClr val="E2E8F0"/>
                          </a:solidFill>
                          <a:latin typeface="Arial"/>
                        </a:defRPr>
                      </a:pPr>
                      <a:r>
                        <a:t>NOT NULL</a:t>
                      </a:r>
                    </a:p>
                  </a:txBody>
                  <a:tcPr>
                    <a:solidFill>
                      <a:srgbClr val="121A28"/>
                    </a:solidFill>
                  </a:tcPr>
                </a:tc>
                <a:tc>
                  <a:txBody>
                    <a:bodyPr/>
                    <a:lstStyle/>
                    <a:p>
                      <a:pPr>
                        <a:defRPr sz="1000">
                          <a:solidFill>
                            <a:srgbClr val="E2E8F0"/>
                          </a:solidFill>
                          <a:latin typeface="Arial"/>
                        </a:defRPr>
                      </a:pPr>
                      <a:r>
                        <a:t>Event Name</a:t>
                      </a:r>
                    </a:p>
                  </a:txBody>
                  <a:tcPr>
                    <a:solidFill>
                      <a:srgbClr val="121A28"/>
                    </a:solidFill>
                  </a:tcPr>
                </a:tc>
              </a:tr>
              <a:tr h="508635">
                <a:tc>
                  <a:txBody>
                    <a:bodyPr/>
                    <a:lstStyle/>
                    <a:p>
                      <a:pPr>
                        <a:defRPr sz="1000">
                          <a:solidFill>
                            <a:srgbClr val="E2E8F0"/>
                          </a:solidFill>
                          <a:latin typeface="Arial"/>
                        </a:defRPr>
                      </a:pPr>
                      <a:r>
                        <a:t>date_time</a:t>
                      </a:r>
                    </a:p>
                  </a:txBody>
                  <a:tcPr>
                    <a:solidFill>
                      <a:srgbClr val="182234"/>
                    </a:solidFill>
                  </a:tcPr>
                </a:tc>
                <a:tc>
                  <a:txBody>
                    <a:bodyPr/>
                    <a:lstStyle/>
                    <a:p>
                      <a:pPr>
                        <a:defRPr sz="1000">
                          <a:solidFill>
                            <a:srgbClr val="E2E8F0"/>
                          </a:solidFill>
                          <a:latin typeface="Arial"/>
                        </a:defRPr>
                      </a:pPr>
                      <a:r>
                        <a:t>DATETIME</a:t>
                      </a:r>
                    </a:p>
                  </a:txBody>
                  <a:tcPr>
                    <a:solidFill>
                      <a:srgbClr val="182234"/>
                    </a:solidFill>
                  </a:tcPr>
                </a:tc>
                <a:tc>
                  <a:txBody>
                    <a:bodyPr/>
                    <a:lstStyle/>
                    <a:p>
                      <a:pPr>
                        <a:defRPr sz="1000">
                          <a:solidFill>
                            <a:srgbClr val="E2E8F0"/>
                          </a:solidFill>
                          <a:latin typeface="Arial"/>
                        </a:defRPr>
                      </a:pPr>
                      <a:r>
                        <a:t>NOT NULL, INDEX</a:t>
                      </a:r>
                    </a:p>
                  </a:txBody>
                  <a:tcPr>
                    <a:solidFill>
                      <a:srgbClr val="182234"/>
                    </a:solidFill>
                  </a:tcPr>
                </a:tc>
                <a:tc>
                  <a:txBody>
                    <a:bodyPr/>
                    <a:lstStyle/>
                    <a:p>
                      <a:pPr>
                        <a:defRPr sz="1000">
                          <a:solidFill>
                            <a:srgbClr val="E2E8F0"/>
                          </a:solidFill>
                          <a:latin typeface="Arial"/>
                        </a:defRPr>
                      </a:pPr>
                      <a:r>
                        <a:t>Event Start Time</a:t>
                      </a:r>
                    </a:p>
                  </a:txBody>
                  <a:tcPr>
                    <a:solidFill>
                      <a:srgbClr val="182234"/>
                    </a:solidFill>
                  </a:tcPr>
                </a:tc>
              </a:tr>
              <a:tr h="508635">
                <a:tc>
                  <a:txBody>
                    <a:bodyPr/>
                    <a:lstStyle/>
                    <a:p>
                      <a:pPr>
                        <a:defRPr sz="1000">
                          <a:solidFill>
                            <a:srgbClr val="E2E8F0"/>
                          </a:solidFill>
                          <a:latin typeface="Arial"/>
                        </a:defRPr>
                      </a:pPr>
                      <a:r>
                        <a:t>end_date_time</a:t>
                      </a:r>
                    </a:p>
                  </a:txBody>
                  <a:tcPr>
                    <a:solidFill>
                      <a:srgbClr val="121A28"/>
                    </a:solidFill>
                  </a:tcPr>
                </a:tc>
                <a:tc>
                  <a:txBody>
                    <a:bodyPr/>
                    <a:lstStyle/>
                    <a:p>
                      <a:pPr>
                        <a:defRPr sz="1000">
                          <a:solidFill>
                            <a:srgbClr val="E2E8F0"/>
                          </a:solidFill>
                          <a:latin typeface="Arial"/>
                        </a:defRPr>
                      </a:pPr>
                      <a:r>
                        <a:t>DATETIME</a:t>
                      </a:r>
                    </a:p>
                  </a:txBody>
                  <a:tcPr>
                    <a:solidFill>
                      <a:srgbClr val="121A28"/>
                    </a:solidFill>
                  </a:tcPr>
                </a:tc>
                <a:tc>
                  <a:txBody>
                    <a:bodyPr/>
                    <a:lstStyle/>
                    <a:p>
                      <a:pPr>
                        <a:defRPr sz="1000">
                          <a:solidFill>
                            <a:srgbClr val="E2E8F0"/>
                          </a:solidFill>
                          <a:latin typeface="Arial"/>
                        </a:defRPr>
                      </a:pPr>
                      <a:r>
                        <a:t>CHECK (&gt; start)</a:t>
                      </a:r>
                    </a:p>
                  </a:txBody>
                  <a:tcPr>
                    <a:solidFill>
                      <a:srgbClr val="121A28"/>
                    </a:solidFill>
                  </a:tcPr>
                </a:tc>
                <a:tc>
                  <a:txBody>
                    <a:bodyPr/>
                    <a:lstStyle/>
                    <a:p>
                      <a:pPr>
                        <a:defRPr sz="1000">
                          <a:solidFill>
                            <a:srgbClr val="E2E8F0"/>
                          </a:solidFill>
                          <a:latin typeface="Arial"/>
                        </a:defRPr>
                      </a:pPr>
                      <a:r>
                        <a:t>Event End Time</a:t>
                      </a:r>
                    </a:p>
                  </a:txBody>
                  <a:tcPr>
                    <a:solidFill>
                      <a:srgbClr val="121A28"/>
                    </a:solidFill>
                  </a:tcPr>
                </a:tc>
              </a:tr>
              <a:tr h="508635">
                <a:tc>
                  <a:txBody>
                    <a:bodyPr/>
                    <a:lstStyle/>
                    <a:p>
                      <a:pPr>
                        <a:defRPr sz="1000">
                          <a:solidFill>
                            <a:srgbClr val="E2E8F0"/>
                          </a:solidFill>
                          <a:latin typeface="Arial"/>
                        </a:defRPr>
                      </a:pPr>
                      <a:r>
                        <a:t>venue</a:t>
                      </a:r>
                    </a:p>
                  </a:txBody>
                  <a:tcPr>
                    <a:solidFill>
                      <a:srgbClr val="182234"/>
                    </a:solidFill>
                  </a:tcPr>
                </a:tc>
                <a:tc>
                  <a:txBody>
                    <a:bodyPr/>
                    <a:lstStyle/>
                    <a:p>
                      <a:pPr>
                        <a:defRPr sz="1000">
                          <a:solidFill>
                            <a:srgbClr val="E2E8F0"/>
                          </a:solidFill>
                          <a:latin typeface="Arial"/>
                        </a:defRPr>
                      </a:pPr>
                      <a:r>
                        <a:t>VARCHAR(255)</a:t>
                      </a:r>
                    </a:p>
                  </a:txBody>
                  <a:tcPr>
                    <a:solidFill>
                      <a:srgbClr val="182234"/>
                    </a:solidFill>
                  </a:tcPr>
                </a:tc>
                <a:tc>
                  <a:txBody>
                    <a:bodyPr/>
                    <a:lstStyle/>
                    <a:p>
                      <a:pPr>
                        <a:defRPr sz="1000">
                          <a:solidFill>
                            <a:srgbClr val="E2E8F0"/>
                          </a:solidFill>
                          <a:latin typeface="Arial"/>
                        </a:defRPr>
                      </a:pPr>
                      <a:r>
                        <a:t>NOT NULL</a:t>
                      </a:r>
                    </a:p>
                  </a:txBody>
                  <a:tcPr>
                    <a:solidFill>
                      <a:srgbClr val="182234"/>
                    </a:solidFill>
                  </a:tcPr>
                </a:tc>
                <a:tc>
                  <a:txBody>
                    <a:bodyPr/>
                    <a:lstStyle/>
                    <a:p>
                      <a:pPr>
                        <a:defRPr sz="1000">
                          <a:solidFill>
                            <a:srgbClr val="E2E8F0"/>
                          </a:solidFill>
                          <a:latin typeface="Arial"/>
                        </a:defRPr>
                      </a:pPr>
                      <a:r>
                        <a:t>Physical Location</a:t>
                      </a:r>
                    </a:p>
                  </a:txBody>
                  <a:tcPr>
                    <a:solidFill>
                      <a:srgbClr val="182234"/>
                    </a:solidFill>
                  </a:tcPr>
                </a:tc>
              </a:tr>
              <a:tr h="508635">
                <a:tc>
                  <a:txBody>
                    <a:bodyPr/>
                    <a:lstStyle/>
                    <a:p>
                      <a:pPr>
                        <a:defRPr sz="1000">
                          <a:solidFill>
                            <a:srgbClr val="E2E8F0"/>
                          </a:solidFill>
                          <a:latin typeface="Arial"/>
                        </a:defRPr>
                      </a:pPr>
                      <a:r>
                        <a:t>category</a:t>
                      </a:r>
                    </a:p>
                  </a:txBody>
                  <a:tcPr>
                    <a:solidFill>
                      <a:srgbClr val="121A28"/>
                    </a:solidFill>
                  </a:tcPr>
                </a:tc>
                <a:tc>
                  <a:txBody>
                    <a:bodyPr/>
                    <a:lstStyle/>
                    <a:p>
                      <a:pPr>
                        <a:defRPr sz="1000">
                          <a:solidFill>
                            <a:srgbClr val="E2E8F0"/>
                          </a:solidFill>
                          <a:latin typeface="Arial"/>
                        </a:defRPr>
                      </a:pPr>
                      <a:r>
                        <a:t>VARCHAR(50)</a:t>
                      </a:r>
                    </a:p>
                  </a:txBody>
                  <a:tcPr>
                    <a:solidFill>
                      <a:srgbClr val="121A28"/>
                    </a:solidFill>
                  </a:tcPr>
                </a:tc>
                <a:tc>
                  <a:txBody>
                    <a:bodyPr/>
                    <a:lstStyle/>
                    <a:p>
                      <a:pPr>
                        <a:defRPr sz="1000">
                          <a:solidFill>
                            <a:srgbClr val="E2E8F0"/>
                          </a:solidFill>
                          <a:latin typeface="Arial"/>
                        </a:defRPr>
                      </a:pPr>
                      <a:r>
                        <a:t>NOT NULL, INDEX</a:t>
                      </a:r>
                    </a:p>
                  </a:txBody>
                  <a:tcPr>
                    <a:solidFill>
                      <a:srgbClr val="121A28"/>
                    </a:solidFill>
                  </a:tcPr>
                </a:tc>
                <a:tc>
                  <a:txBody>
                    <a:bodyPr/>
                    <a:lstStyle/>
                    <a:p>
                      <a:pPr>
                        <a:defRPr sz="1000">
                          <a:solidFill>
                            <a:srgbClr val="E2E8F0"/>
                          </a:solidFill>
                          <a:latin typeface="Arial"/>
                        </a:defRPr>
                      </a:pPr>
                      <a:r>
                        <a:t>Technical, Cultural...</a:t>
                      </a:r>
                    </a:p>
                  </a:txBody>
                  <a:tcPr>
                    <a:solidFill>
                      <a:srgbClr val="121A28"/>
                    </a:solidFill>
                  </a:tcPr>
                </a:tc>
              </a:tr>
              <a:tr h="508635">
                <a:tc>
                  <a:txBody>
                    <a:bodyPr/>
                    <a:lstStyle/>
                    <a:p>
                      <a:pPr>
                        <a:defRPr sz="1000">
                          <a:solidFill>
                            <a:srgbClr val="E2E8F0"/>
                          </a:solidFill>
                          <a:latin typeface="Arial"/>
                        </a:defRPr>
                      </a:pPr>
                      <a:r>
                        <a:t>max_capacity</a:t>
                      </a:r>
                    </a:p>
                  </a:txBody>
                  <a:tcPr>
                    <a:solidFill>
                      <a:srgbClr val="182234"/>
                    </a:solidFill>
                  </a:tcPr>
                </a:tc>
                <a:tc>
                  <a:txBody>
                    <a:bodyPr/>
                    <a:lstStyle/>
                    <a:p>
                      <a:pPr>
                        <a:defRPr sz="1000">
                          <a:solidFill>
                            <a:srgbClr val="E2E8F0"/>
                          </a:solidFill>
                          <a:latin typeface="Arial"/>
                        </a:defRPr>
                      </a:pPr>
                      <a:r>
                        <a:t>INT</a:t>
                      </a:r>
                    </a:p>
                  </a:txBody>
                  <a:tcPr>
                    <a:solidFill>
                      <a:srgbClr val="182234"/>
                    </a:solidFill>
                  </a:tcPr>
                </a:tc>
                <a:tc>
                  <a:txBody>
                    <a:bodyPr/>
                    <a:lstStyle/>
                    <a:p>
                      <a:pPr>
                        <a:defRPr sz="1000">
                          <a:solidFill>
                            <a:srgbClr val="E2E8F0"/>
                          </a:solidFill>
                          <a:latin typeface="Arial"/>
                        </a:defRPr>
                      </a:pPr>
                      <a:r>
                        <a:t>CHECK (&gt; 0)</a:t>
                      </a:r>
                    </a:p>
                  </a:txBody>
                  <a:tcPr>
                    <a:solidFill>
                      <a:srgbClr val="182234"/>
                    </a:solidFill>
                  </a:tcPr>
                </a:tc>
                <a:tc>
                  <a:txBody>
                    <a:bodyPr/>
                    <a:lstStyle/>
                    <a:p>
                      <a:pPr>
                        <a:defRPr sz="1000">
                          <a:solidFill>
                            <a:srgbClr val="E2E8F0"/>
                          </a:solidFill>
                          <a:latin typeface="Arial"/>
                        </a:defRPr>
                      </a:pPr>
                      <a:r>
                        <a:t>Seat Capacity Ceiling</a:t>
                      </a:r>
                    </a:p>
                  </a:txBody>
                  <a:tcPr>
                    <a:solidFill>
                      <a:srgbClr val="182234"/>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82234"/>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6B6D4"/>
                </a:solidFill>
                <a:latin typeface="Arial"/>
              </a:defRPr>
            </a:pPr>
            <a:r>
              <a:t>DATABASE VERIFICATION</a:t>
            </a:r>
          </a:p>
        </p:txBody>
      </p:sp>
      <p:sp>
        <p:nvSpPr>
          <p:cNvPr id="4" name="TextBox 3"/>
          <p:cNvSpPr txBox="1"/>
          <p:nvPr/>
        </p:nvSpPr>
        <p:spPr>
          <a:xfrm>
            <a:off x="731520" y="731520"/>
            <a:ext cx="10728655" cy="777240"/>
          </a:xfrm>
          <a:prstGeom prst="rect">
            <a:avLst/>
          </a:prstGeom>
          <a:noFill/>
        </p:spPr>
        <p:txBody>
          <a:bodyPr wrap="square" lIns="0" tIns="0" rIns="0" bIns="0">
            <a:spAutoFit/>
          </a:bodyPr>
          <a:lstStyle/>
          <a:p>
            <a:pPr>
              <a:defRPr sz="3000" b="1">
                <a:solidFill>
                  <a:srgbClr val="FFFFFF"/>
                </a:solidFill>
                <a:latin typeface="Arial"/>
              </a:defRPr>
            </a:pPr>
            <a:r>
              <a:t>Sample Database Records &amp; Live State</a:t>
            </a:r>
          </a:p>
          <a:p>
            <a:pPr>
              <a:spcBef>
                <a:spcPts val="300"/>
              </a:spcBef>
              <a:defRPr sz="1500">
                <a:solidFill>
                  <a:srgbClr val="94A3B8"/>
                </a:solidFill>
                <a:latin typeface="Arial"/>
              </a:defRPr>
            </a:pPr>
            <a:r>
              <a:t>Actual seed records demonstrating relational persistence and referential integrity</a:t>
            </a:r>
          </a:p>
        </p:txBody>
      </p:sp>
      <p:sp>
        <p:nvSpPr>
          <p:cNvPr id="5" name="Rounded Rectangle 4"/>
          <p:cNvSpPr/>
          <p:nvPr/>
        </p:nvSpPr>
        <p:spPr>
          <a:xfrm>
            <a:off x="731520" y="1691640"/>
            <a:ext cx="10728655" cy="137160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10362895" cy="274320"/>
          </a:xfrm>
          <a:prstGeom prst="rect">
            <a:avLst/>
          </a:prstGeom>
          <a:noFill/>
        </p:spPr>
        <p:txBody>
          <a:bodyPr wrap="none">
            <a:spAutoFit/>
          </a:bodyPr>
          <a:lstStyle/>
          <a:p>
            <a:pPr>
              <a:defRPr sz="1400" b="1">
                <a:solidFill>
                  <a:srgbClr val="6366F1"/>
                </a:solidFill>
              </a:defRPr>
            </a:pPr>
            <a:r>
              <a:t>Sample Records: users Table</a:t>
            </a:r>
          </a:p>
        </p:txBody>
      </p:sp>
      <p:graphicFrame>
        <p:nvGraphicFramePr>
          <p:cNvPr id="7" name="Table 6"/>
          <p:cNvGraphicFramePr>
            <a:graphicFrameLocks noGrp="1"/>
          </p:cNvGraphicFramePr>
          <p:nvPr/>
        </p:nvGraphicFramePr>
        <p:xfrm>
          <a:off x="914400" y="2057400"/>
          <a:ext cx="10362895" cy="868680"/>
        </p:xfrm>
        <a:graphic>
          <a:graphicData uri="http://schemas.openxmlformats.org/drawingml/2006/table">
            <a:tbl>
              <a:tblPr firstRow="1" bandRow="1">
                <a:tableStyleId>{5C22544A-7EE6-4342-B048-85BDC9FD1C3A}</a:tableStyleId>
              </a:tblPr>
              <a:tblGrid>
                <a:gridCol w="731520"/>
                <a:gridCol w="1371600"/>
                <a:gridCol w="1371600"/>
                <a:gridCol w="4114800"/>
                <a:gridCol w="2773375"/>
              </a:tblGrid>
              <a:tr h="289560">
                <a:tc>
                  <a:txBody>
                    <a:bodyPr/>
                    <a:lstStyle/>
                    <a:p>
                      <a:pPr>
                        <a:defRPr b="1" sz="1000">
                          <a:solidFill>
                            <a:srgbClr val="06B6D4"/>
                          </a:solidFill>
                        </a:defRPr>
                      </a:pPr>
                      <a:r>
                        <a:t>id</a:t>
                      </a:r>
                    </a:p>
                  </a:txBody>
                  <a:tcPr>
                    <a:solidFill>
                      <a:srgbClr val="121A28"/>
                    </a:solidFill>
                  </a:tcPr>
                </a:tc>
                <a:tc>
                  <a:txBody>
                    <a:bodyPr/>
                    <a:lstStyle/>
                    <a:p>
                      <a:pPr>
                        <a:defRPr b="1" sz="1000">
                          <a:solidFill>
                            <a:srgbClr val="06B6D4"/>
                          </a:solidFill>
                        </a:defRPr>
                      </a:pPr>
                      <a:r>
                        <a:t>username</a:t>
                      </a:r>
                    </a:p>
                  </a:txBody>
                  <a:tcPr>
                    <a:solidFill>
                      <a:srgbClr val="121A28"/>
                    </a:solidFill>
                  </a:tcPr>
                </a:tc>
                <a:tc>
                  <a:txBody>
                    <a:bodyPr/>
                    <a:lstStyle/>
                    <a:p>
                      <a:pPr>
                        <a:defRPr b="1" sz="1000">
                          <a:solidFill>
                            <a:srgbClr val="06B6D4"/>
                          </a:solidFill>
                        </a:defRPr>
                      </a:pPr>
                      <a:r>
                        <a:t>role</a:t>
                      </a:r>
                    </a:p>
                  </a:txBody>
                  <a:tcPr>
                    <a:solidFill>
                      <a:srgbClr val="121A28"/>
                    </a:solidFill>
                  </a:tcPr>
                </a:tc>
                <a:tc>
                  <a:txBody>
                    <a:bodyPr/>
                    <a:lstStyle/>
                    <a:p>
                      <a:pPr>
                        <a:defRPr b="1" sz="1000">
                          <a:solidFill>
                            <a:srgbClr val="06B6D4"/>
                          </a:solidFill>
                        </a:defRPr>
                      </a:pPr>
                      <a:r>
                        <a:t>password_hash (BCrypt)</a:t>
                      </a:r>
                    </a:p>
                  </a:txBody>
                  <a:tcPr>
                    <a:solidFill>
                      <a:srgbClr val="121A28"/>
                    </a:solidFill>
                  </a:tcPr>
                </a:tc>
                <a:tc>
                  <a:txBody>
                    <a:bodyPr/>
                    <a:lstStyle/>
                    <a:p>
                      <a:pPr>
                        <a:defRPr b="1" sz="1000">
                          <a:solidFill>
                            <a:srgbClr val="06B6D4"/>
                          </a:solidFill>
                        </a:defRPr>
                      </a:pPr>
                      <a:r>
                        <a:t>email</a:t>
                      </a:r>
                    </a:p>
                  </a:txBody>
                  <a:tcPr>
                    <a:solidFill>
                      <a:srgbClr val="121A28"/>
                    </a:solidFill>
                  </a:tcPr>
                </a:tc>
              </a:tr>
              <a:tr h="289560">
                <a:tc>
                  <a:txBody>
                    <a:bodyPr/>
                    <a:lstStyle/>
                    <a:p>
                      <a:pPr>
                        <a:defRPr sz="900">
                          <a:solidFill>
                            <a:srgbClr val="E2E8F0"/>
                          </a:solidFill>
                        </a:defRPr>
                      </a:pPr>
                      <a:r>
                        <a:t>1</a:t>
                      </a:r>
                    </a:p>
                  </a:txBody>
                  <a:tcPr>
                    <a:solidFill>
                      <a:srgbClr val="182234"/>
                    </a:solidFill>
                  </a:tcPr>
                </a:tc>
                <a:tc>
                  <a:txBody>
                    <a:bodyPr/>
                    <a:lstStyle/>
                    <a:p>
                      <a:pPr>
                        <a:defRPr sz="900">
                          <a:solidFill>
                            <a:srgbClr val="E2E8F0"/>
                          </a:solidFill>
                        </a:defRPr>
                      </a:pPr>
                      <a:r>
                        <a:t>admin</a:t>
                      </a:r>
                    </a:p>
                  </a:txBody>
                  <a:tcPr>
                    <a:solidFill>
                      <a:srgbClr val="182234"/>
                    </a:solidFill>
                  </a:tcPr>
                </a:tc>
                <a:tc>
                  <a:txBody>
                    <a:bodyPr/>
                    <a:lstStyle/>
                    <a:p>
                      <a:pPr>
                        <a:defRPr sz="900">
                          <a:solidFill>
                            <a:srgbClr val="E2E8F0"/>
                          </a:solidFill>
                        </a:defRPr>
                      </a:pPr>
                      <a:r>
                        <a:t>ADMIN</a:t>
                      </a:r>
                    </a:p>
                  </a:txBody>
                  <a:tcPr>
                    <a:solidFill>
                      <a:srgbClr val="182234"/>
                    </a:solidFill>
                  </a:tcPr>
                </a:tc>
                <a:tc>
                  <a:txBody>
                    <a:bodyPr/>
                    <a:lstStyle/>
                    <a:p>
                      <a:pPr>
                        <a:defRPr sz="900">
                          <a:solidFill>
                            <a:srgbClr val="E2E8F0"/>
                          </a:solidFill>
                        </a:defRPr>
                      </a:pPr>
                      <a:r>
                        <a:t>$2a$10$RzVj6l9z8qP7yW2u3e4r5t6y7u8i9o0p1a2s3d4f5g6h7j8k9l</a:t>
                      </a:r>
                    </a:p>
                  </a:txBody>
                  <a:tcPr>
                    <a:solidFill>
                      <a:srgbClr val="182234"/>
                    </a:solidFill>
                  </a:tcPr>
                </a:tc>
                <a:tc>
                  <a:txBody>
                    <a:bodyPr/>
                    <a:lstStyle/>
                    <a:p>
                      <a:pPr>
                        <a:defRPr sz="900">
                          <a:solidFill>
                            <a:srgbClr val="E2E8F0"/>
                          </a:solidFill>
                        </a:defRPr>
                      </a:pPr>
                      <a:r>
                        <a:t>admin@campus.edu</a:t>
                      </a:r>
                    </a:p>
                  </a:txBody>
                  <a:tcPr>
                    <a:solidFill>
                      <a:srgbClr val="182234"/>
                    </a:solidFill>
                  </a:tcPr>
                </a:tc>
              </a:tr>
              <a:tr h="289560">
                <a:tc>
                  <a:txBody>
                    <a:bodyPr/>
                    <a:lstStyle/>
                    <a:p>
                      <a:pPr>
                        <a:defRPr sz="900">
                          <a:solidFill>
                            <a:srgbClr val="E2E8F0"/>
                          </a:solidFill>
                        </a:defRPr>
                      </a:pPr>
                      <a:r>
                        <a:t>2</a:t>
                      </a:r>
                    </a:p>
                  </a:txBody>
                  <a:tcPr>
                    <a:solidFill>
                      <a:srgbClr val="121A28"/>
                    </a:solidFill>
                  </a:tcPr>
                </a:tc>
                <a:tc>
                  <a:txBody>
                    <a:bodyPr/>
                    <a:lstStyle/>
                    <a:p>
                      <a:pPr>
                        <a:defRPr sz="900">
                          <a:solidFill>
                            <a:srgbClr val="E2E8F0"/>
                          </a:solidFill>
                        </a:defRPr>
                      </a:pPr>
                      <a:r>
                        <a:t>guest</a:t>
                      </a:r>
                    </a:p>
                  </a:txBody>
                  <a:tcPr>
                    <a:solidFill>
                      <a:srgbClr val="121A28"/>
                    </a:solidFill>
                  </a:tcPr>
                </a:tc>
                <a:tc>
                  <a:txBody>
                    <a:bodyPr/>
                    <a:lstStyle/>
                    <a:p>
                      <a:pPr>
                        <a:defRPr sz="900">
                          <a:solidFill>
                            <a:srgbClr val="E2E8F0"/>
                          </a:solidFill>
                        </a:defRPr>
                      </a:pPr>
                      <a:r>
                        <a:t>STUDENT</a:t>
                      </a:r>
                    </a:p>
                  </a:txBody>
                  <a:tcPr>
                    <a:solidFill>
                      <a:srgbClr val="121A28"/>
                    </a:solidFill>
                  </a:tcPr>
                </a:tc>
                <a:tc>
                  <a:txBody>
                    <a:bodyPr/>
                    <a:lstStyle/>
                    <a:p>
                      <a:pPr>
                        <a:defRPr sz="900">
                          <a:solidFill>
                            <a:srgbClr val="E2E8F0"/>
                          </a:solidFill>
                        </a:defRPr>
                      </a:pPr>
                      <a:r>
                        <a:t>$2a$10$kL8m9n0b1v2c3x4z5a6s7d8f9g0h1j2k3l4m5n6b7v8c9x0z</a:t>
                      </a:r>
                    </a:p>
                  </a:txBody>
                  <a:tcPr>
                    <a:solidFill>
                      <a:srgbClr val="121A28"/>
                    </a:solidFill>
                  </a:tcPr>
                </a:tc>
                <a:tc>
                  <a:txBody>
                    <a:bodyPr/>
                    <a:lstStyle/>
                    <a:p>
                      <a:pPr>
                        <a:defRPr sz="900">
                          <a:solidFill>
                            <a:srgbClr val="E2E8F0"/>
                          </a:solidFill>
                        </a:defRPr>
                      </a:pPr>
                      <a:r>
                        <a:t>student@campus.edu</a:t>
                      </a:r>
                    </a:p>
                  </a:txBody>
                  <a:tcPr>
                    <a:solidFill>
                      <a:srgbClr val="121A28"/>
                    </a:solidFill>
                  </a:tcPr>
                </a:tc>
              </a:tr>
            </a:tbl>
          </a:graphicData>
        </a:graphic>
      </p:graphicFrame>
      <p:sp>
        <p:nvSpPr>
          <p:cNvPr id="8" name="Rounded Rectangle 7"/>
          <p:cNvSpPr/>
          <p:nvPr/>
        </p:nvSpPr>
        <p:spPr>
          <a:xfrm>
            <a:off x="731520" y="3200400"/>
            <a:ext cx="10728655" cy="164592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46120"/>
            <a:ext cx="10362895" cy="274320"/>
          </a:xfrm>
          <a:prstGeom prst="rect">
            <a:avLst/>
          </a:prstGeom>
          <a:noFill/>
        </p:spPr>
        <p:txBody>
          <a:bodyPr wrap="none">
            <a:spAutoFit/>
          </a:bodyPr>
          <a:lstStyle/>
          <a:p>
            <a:pPr>
              <a:defRPr sz="1400" b="1">
                <a:solidFill>
                  <a:srgbClr val="10B981"/>
                </a:solidFill>
              </a:defRPr>
            </a:pPr>
            <a:r>
              <a:t>Sample Records: events Table</a:t>
            </a:r>
          </a:p>
        </p:txBody>
      </p:sp>
      <p:graphicFrame>
        <p:nvGraphicFramePr>
          <p:cNvPr id="10" name="Table 9"/>
          <p:cNvGraphicFramePr>
            <a:graphicFrameLocks noGrp="1"/>
          </p:cNvGraphicFramePr>
          <p:nvPr/>
        </p:nvGraphicFramePr>
        <p:xfrm>
          <a:off x="914400" y="3566160"/>
          <a:ext cx="10362895" cy="1143000"/>
        </p:xfrm>
        <a:graphic>
          <a:graphicData uri="http://schemas.openxmlformats.org/drawingml/2006/table">
            <a:tbl>
              <a:tblPr firstRow="1" bandRow="1">
                <a:tableStyleId>{5C22544A-7EE6-4342-B048-85BDC9FD1C3A}</a:tableStyleId>
              </a:tblPr>
              <a:tblGrid>
                <a:gridCol w="731520"/>
                <a:gridCol w="2926080"/>
                <a:gridCol w="1645920"/>
                <a:gridCol w="2011680"/>
                <a:gridCol w="1828800"/>
                <a:gridCol w="1218895"/>
              </a:tblGrid>
              <a:tr h="381000">
                <a:tc>
                  <a:txBody>
                    <a:bodyPr/>
                    <a:lstStyle/>
                    <a:p>
                      <a:pPr>
                        <a:defRPr b="1" sz="1000">
                          <a:solidFill>
                            <a:srgbClr val="10B981"/>
                          </a:solidFill>
                        </a:defRPr>
                      </a:pPr>
                      <a:r>
                        <a:t>id</a:t>
                      </a:r>
                    </a:p>
                  </a:txBody>
                  <a:tcPr>
                    <a:solidFill>
                      <a:srgbClr val="121A28"/>
                    </a:solidFill>
                  </a:tcPr>
                </a:tc>
                <a:tc>
                  <a:txBody>
                    <a:bodyPr/>
                    <a:lstStyle/>
                    <a:p>
                      <a:pPr>
                        <a:defRPr b="1" sz="1000">
                          <a:solidFill>
                            <a:srgbClr val="10B981"/>
                          </a:solidFill>
                        </a:defRPr>
                      </a:pPr>
                      <a:r>
                        <a:t>title</a:t>
                      </a:r>
                    </a:p>
                  </a:txBody>
                  <a:tcPr>
                    <a:solidFill>
                      <a:srgbClr val="121A28"/>
                    </a:solidFill>
                  </a:tcPr>
                </a:tc>
                <a:tc>
                  <a:txBody>
                    <a:bodyPr/>
                    <a:lstStyle/>
                    <a:p>
                      <a:pPr>
                        <a:defRPr b="1" sz="1000">
                          <a:solidFill>
                            <a:srgbClr val="10B981"/>
                          </a:solidFill>
                        </a:defRPr>
                      </a:pPr>
                      <a:r>
                        <a:t>category</a:t>
                      </a:r>
                    </a:p>
                  </a:txBody>
                  <a:tcPr>
                    <a:solidFill>
                      <a:srgbClr val="121A28"/>
                    </a:solidFill>
                  </a:tcPr>
                </a:tc>
                <a:tc>
                  <a:txBody>
                    <a:bodyPr/>
                    <a:lstStyle/>
                    <a:p>
                      <a:pPr>
                        <a:defRPr b="1" sz="1000">
                          <a:solidFill>
                            <a:srgbClr val="10B981"/>
                          </a:solidFill>
                        </a:defRPr>
                      </a:pPr>
                      <a:r>
                        <a:t>date_time</a:t>
                      </a:r>
                    </a:p>
                  </a:txBody>
                  <a:tcPr>
                    <a:solidFill>
                      <a:srgbClr val="121A28"/>
                    </a:solidFill>
                  </a:tcPr>
                </a:tc>
                <a:tc>
                  <a:txBody>
                    <a:bodyPr/>
                    <a:lstStyle/>
                    <a:p>
                      <a:pPr>
                        <a:defRPr b="1" sz="1000">
                          <a:solidFill>
                            <a:srgbClr val="10B981"/>
                          </a:solidFill>
                        </a:defRPr>
                      </a:pPr>
                      <a:r>
                        <a:t>venue</a:t>
                      </a:r>
                    </a:p>
                  </a:txBody>
                  <a:tcPr>
                    <a:solidFill>
                      <a:srgbClr val="121A28"/>
                    </a:solidFill>
                  </a:tcPr>
                </a:tc>
                <a:tc>
                  <a:txBody>
                    <a:bodyPr/>
                    <a:lstStyle/>
                    <a:p>
                      <a:pPr>
                        <a:defRPr b="1" sz="1000">
                          <a:solidFill>
                            <a:srgbClr val="10B981"/>
                          </a:solidFill>
                        </a:defRPr>
                      </a:pPr>
                      <a:r>
                        <a:t>max_capacity</a:t>
                      </a:r>
                    </a:p>
                  </a:txBody>
                  <a:tcPr>
                    <a:solidFill>
                      <a:srgbClr val="121A28"/>
                    </a:solidFill>
                  </a:tcPr>
                </a:tc>
              </a:tr>
              <a:tr h="381000">
                <a:tc>
                  <a:txBody>
                    <a:bodyPr/>
                    <a:lstStyle/>
                    <a:p>
                      <a:pPr>
                        <a:defRPr sz="900">
                          <a:solidFill>
                            <a:srgbClr val="E2E8F0"/>
                          </a:solidFill>
                        </a:defRPr>
                      </a:pPr>
                      <a:r>
                        <a:t>1</a:t>
                      </a:r>
                    </a:p>
                  </a:txBody>
                  <a:tcPr>
                    <a:solidFill>
                      <a:srgbClr val="182234"/>
                    </a:solidFill>
                  </a:tcPr>
                </a:tc>
                <a:tc>
                  <a:txBody>
                    <a:bodyPr/>
                    <a:lstStyle/>
                    <a:p>
                      <a:pPr>
                        <a:defRPr sz="900">
                          <a:solidFill>
                            <a:srgbClr val="E2E8F0"/>
                          </a:solidFill>
                        </a:defRPr>
                      </a:pPr>
                      <a:r>
                        <a:t>AI &amp; Autonomous Agents Hackathon</a:t>
                      </a:r>
                    </a:p>
                  </a:txBody>
                  <a:tcPr>
                    <a:solidFill>
                      <a:srgbClr val="182234"/>
                    </a:solidFill>
                  </a:tcPr>
                </a:tc>
                <a:tc>
                  <a:txBody>
                    <a:bodyPr/>
                    <a:lstStyle/>
                    <a:p>
                      <a:pPr>
                        <a:defRPr sz="900">
                          <a:solidFill>
                            <a:srgbClr val="E2E8F0"/>
                          </a:solidFill>
                        </a:defRPr>
                      </a:pPr>
                      <a:r>
                        <a:t>Technical</a:t>
                      </a:r>
                    </a:p>
                  </a:txBody>
                  <a:tcPr>
                    <a:solidFill>
                      <a:srgbClr val="182234"/>
                    </a:solidFill>
                  </a:tcPr>
                </a:tc>
                <a:tc>
                  <a:txBody>
                    <a:bodyPr/>
                    <a:lstStyle/>
                    <a:p>
                      <a:pPr>
                        <a:defRPr sz="900">
                          <a:solidFill>
                            <a:srgbClr val="E2E8F0"/>
                          </a:solidFill>
                        </a:defRPr>
                      </a:pPr>
                      <a:r>
                        <a:t>2026-09-15 09:00:00</a:t>
                      </a:r>
                    </a:p>
                  </a:txBody>
                  <a:tcPr>
                    <a:solidFill>
                      <a:srgbClr val="182234"/>
                    </a:solidFill>
                  </a:tcPr>
                </a:tc>
                <a:tc>
                  <a:txBody>
                    <a:bodyPr/>
                    <a:lstStyle/>
                    <a:p>
                      <a:pPr>
                        <a:defRPr sz="900">
                          <a:solidFill>
                            <a:srgbClr val="E2E8F0"/>
                          </a:solidFill>
                        </a:defRPr>
                      </a:pPr>
                      <a:r>
                        <a:t>Alan Turing Innovation Lab</a:t>
                      </a:r>
                    </a:p>
                  </a:txBody>
                  <a:tcPr>
                    <a:solidFill>
                      <a:srgbClr val="182234"/>
                    </a:solidFill>
                  </a:tcPr>
                </a:tc>
                <a:tc>
                  <a:txBody>
                    <a:bodyPr/>
                    <a:lstStyle/>
                    <a:p>
                      <a:pPr>
                        <a:defRPr sz="900">
                          <a:solidFill>
                            <a:srgbClr val="E2E8F0"/>
                          </a:solidFill>
                        </a:defRPr>
                      </a:pPr>
                      <a:r>
                        <a:t>120</a:t>
                      </a:r>
                    </a:p>
                  </a:txBody>
                  <a:tcPr>
                    <a:solidFill>
                      <a:srgbClr val="182234"/>
                    </a:solidFill>
                  </a:tcPr>
                </a:tc>
              </a:tr>
              <a:tr h="381000">
                <a:tc>
                  <a:txBody>
                    <a:bodyPr/>
                    <a:lstStyle/>
                    <a:p>
                      <a:pPr>
                        <a:defRPr sz="900">
                          <a:solidFill>
                            <a:srgbClr val="E2E8F0"/>
                          </a:solidFill>
                        </a:defRPr>
                      </a:pPr>
                      <a:r>
                        <a:t>2</a:t>
                      </a:r>
                    </a:p>
                  </a:txBody>
                  <a:tcPr>
                    <a:solidFill>
                      <a:srgbClr val="121A28"/>
                    </a:solidFill>
                  </a:tcPr>
                </a:tc>
                <a:tc>
                  <a:txBody>
                    <a:bodyPr/>
                    <a:lstStyle/>
                    <a:p>
                      <a:pPr>
                        <a:defRPr sz="900">
                          <a:solidFill>
                            <a:srgbClr val="E2E8F0"/>
                          </a:solidFill>
                        </a:defRPr>
                      </a:pPr>
                      <a:r>
                        <a:t>Spring Symphony &amp; Cultural Gala</a:t>
                      </a:r>
                    </a:p>
                  </a:txBody>
                  <a:tcPr>
                    <a:solidFill>
                      <a:srgbClr val="121A28"/>
                    </a:solidFill>
                  </a:tcPr>
                </a:tc>
                <a:tc>
                  <a:txBody>
                    <a:bodyPr/>
                    <a:lstStyle/>
                    <a:p>
                      <a:pPr>
                        <a:defRPr sz="900">
                          <a:solidFill>
                            <a:srgbClr val="E2E8F0"/>
                          </a:solidFill>
                        </a:defRPr>
                      </a:pPr>
                      <a:r>
                        <a:t>Cultural</a:t>
                      </a:r>
                    </a:p>
                  </a:txBody>
                  <a:tcPr>
                    <a:solidFill>
                      <a:srgbClr val="121A28"/>
                    </a:solidFill>
                  </a:tcPr>
                </a:tc>
                <a:tc>
                  <a:txBody>
                    <a:bodyPr/>
                    <a:lstStyle/>
                    <a:p>
                      <a:pPr>
                        <a:defRPr sz="900">
                          <a:solidFill>
                            <a:srgbClr val="E2E8F0"/>
                          </a:solidFill>
                        </a:defRPr>
                      </a:pPr>
                      <a:r>
                        <a:t>2026-09-22 18:30:00</a:t>
                      </a:r>
                    </a:p>
                  </a:txBody>
                  <a:tcPr>
                    <a:solidFill>
                      <a:srgbClr val="121A28"/>
                    </a:solidFill>
                  </a:tcPr>
                </a:tc>
                <a:tc>
                  <a:txBody>
                    <a:bodyPr/>
                    <a:lstStyle/>
                    <a:p>
                      <a:pPr>
                        <a:defRPr sz="900">
                          <a:solidFill>
                            <a:srgbClr val="E2E8F0"/>
                          </a:solidFill>
                        </a:defRPr>
                      </a:pPr>
                      <a:r>
                        <a:t>University Main Auditorium</a:t>
                      </a:r>
                    </a:p>
                  </a:txBody>
                  <a:tcPr>
                    <a:solidFill>
                      <a:srgbClr val="121A28"/>
                    </a:solidFill>
                  </a:tcPr>
                </a:tc>
                <a:tc>
                  <a:txBody>
                    <a:bodyPr/>
                    <a:lstStyle/>
                    <a:p>
                      <a:pPr>
                        <a:defRPr sz="900">
                          <a:solidFill>
                            <a:srgbClr val="E2E8F0"/>
                          </a:solidFill>
                        </a:defRPr>
                      </a:pPr>
                      <a:r>
                        <a:t>500</a:t>
                      </a:r>
                    </a:p>
                  </a:txBody>
                  <a:tcPr>
                    <a:solidFill>
                      <a:srgbClr val="121A28"/>
                    </a:solidFill>
                  </a:tcPr>
                </a:tc>
              </a:tr>
            </a:tbl>
          </a:graphicData>
        </a:graphic>
      </p:graphicFrame>
      <p:sp>
        <p:nvSpPr>
          <p:cNvPr id="11" name="Rounded Rectangle 10"/>
          <p:cNvSpPr/>
          <p:nvPr/>
        </p:nvSpPr>
        <p:spPr>
          <a:xfrm>
            <a:off x="731520" y="4983480"/>
            <a:ext cx="10728655" cy="146304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029200"/>
            <a:ext cx="10362895" cy="274320"/>
          </a:xfrm>
          <a:prstGeom prst="rect">
            <a:avLst/>
          </a:prstGeom>
          <a:noFill/>
        </p:spPr>
        <p:txBody>
          <a:bodyPr wrap="none">
            <a:spAutoFit/>
          </a:bodyPr>
          <a:lstStyle/>
          <a:p>
            <a:pPr>
              <a:defRPr sz="1400" b="1">
                <a:solidFill>
                  <a:srgbClr val="06B6D4"/>
                </a:solidFill>
              </a:defRPr>
            </a:pPr>
            <a:r>
              <a:t>Sample Records: registrations Table</a:t>
            </a:r>
          </a:p>
        </p:txBody>
      </p:sp>
      <p:graphicFrame>
        <p:nvGraphicFramePr>
          <p:cNvPr id="13" name="Table 12"/>
          <p:cNvGraphicFramePr>
            <a:graphicFrameLocks noGrp="1"/>
          </p:cNvGraphicFramePr>
          <p:nvPr/>
        </p:nvGraphicFramePr>
        <p:xfrm>
          <a:off x="914400" y="5349240"/>
          <a:ext cx="10362895" cy="960120"/>
        </p:xfrm>
        <a:graphic>
          <a:graphicData uri="http://schemas.openxmlformats.org/drawingml/2006/table">
            <a:tbl>
              <a:tblPr firstRow="1" bandRow="1">
                <a:tableStyleId>{5C22544A-7EE6-4342-B048-85BDC9FD1C3A}</a:tableStyleId>
              </a:tblPr>
              <a:tblGrid>
                <a:gridCol w="731520"/>
                <a:gridCol w="1828800"/>
                <a:gridCol w="1828800"/>
                <a:gridCol w="3200400"/>
                <a:gridCol w="2773375"/>
              </a:tblGrid>
              <a:tr h="320040">
                <a:tc>
                  <a:txBody>
                    <a:bodyPr/>
                    <a:lstStyle/>
                    <a:p>
                      <a:pPr>
                        <a:defRPr b="1" sz="1000">
                          <a:solidFill>
                            <a:srgbClr val="06B6D4"/>
                          </a:solidFill>
                        </a:defRPr>
                      </a:pPr>
                      <a:r>
                        <a:t>id</a:t>
                      </a:r>
                    </a:p>
                  </a:txBody>
                  <a:tcPr>
                    <a:solidFill>
                      <a:srgbClr val="121A28"/>
                    </a:solidFill>
                  </a:tcPr>
                </a:tc>
                <a:tc>
                  <a:txBody>
                    <a:bodyPr/>
                    <a:lstStyle/>
                    <a:p>
                      <a:pPr>
                        <a:defRPr b="1" sz="1000">
                          <a:solidFill>
                            <a:srgbClr val="06B6D4"/>
                          </a:solidFill>
                        </a:defRPr>
                      </a:pPr>
                      <a:r>
                        <a:t>user_id (FK)</a:t>
                      </a:r>
                    </a:p>
                  </a:txBody>
                  <a:tcPr>
                    <a:solidFill>
                      <a:srgbClr val="121A28"/>
                    </a:solidFill>
                  </a:tcPr>
                </a:tc>
                <a:tc>
                  <a:txBody>
                    <a:bodyPr/>
                    <a:lstStyle/>
                    <a:p>
                      <a:pPr>
                        <a:defRPr b="1" sz="1000">
                          <a:solidFill>
                            <a:srgbClr val="06B6D4"/>
                          </a:solidFill>
                        </a:defRPr>
                      </a:pPr>
                      <a:r>
                        <a:t>event_id (FK)</a:t>
                      </a:r>
                    </a:p>
                  </a:txBody>
                  <a:tcPr>
                    <a:solidFill>
                      <a:srgbClr val="121A28"/>
                    </a:solidFill>
                  </a:tcPr>
                </a:tc>
                <a:tc>
                  <a:txBody>
                    <a:bodyPr/>
                    <a:lstStyle/>
                    <a:p>
                      <a:pPr>
                        <a:defRPr b="1" sz="1000">
                          <a:solidFill>
                            <a:srgbClr val="06B6D4"/>
                          </a:solidFill>
                        </a:defRPr>
                      </a:pPr>
                      <a:r>
                        <a:t>registration_date</a:t>
                      </a:r>
                    </a:p>
                  </a:txBody>
                  <a:tcPr>
                    <a:solidFill>
                      <a:srgbClr val="121A28"/>
                    </a:solidFill>
                  </a:tcPr>
                </a:tc>
                <a:tc>
                  <a:txBody>
                    <a:bodyPr/>
                    <a:lstStyle/>
                    <a:p>
                      <a:pPr>
                        <a:defRPr b="1" sz="1000">
                          <a:solidFill>
                            <a:srgbClr val="06B6D4"/>
                          </a:solidFill>
                        </a:defRPr>
                      </a:pPr>
                      <a:r>
                        <a:t>status</a:t>
                      </a:r>
                    </a:p>
                  </a:txBody>
                  <a:tcPr>
                    <a:solidFill>
                      <a:srgbClr val="121A28"/>
                    </a:solidFill>
                  </a:tcPr>
                </a:tc>
              </a:tr>
              <a:tr h="320040">
                <a:tc>
                  <a:txBody>
                    <a:bodyPr/>
                    <a:lstStyle/>
                    <a:p>
                      <a:pPr>
                        <a:defRPr sz="900">
                          <a:solidFill>
                            <a:srgbClr val="E2E8F0"/>
                          </a:solidFill>
                        </a:defRPr>
                      </a:pPr>
                      <a:r>
                        <a:t>1</a:t>
                      </a:r>
                    </a:p>
                  </a:txBody>
                  <a:tcPr>
                    <a:solidFill>
                      <a:srgbClr val="182234"/>
                    </a:solidFill>
                  </a:tcPr>
                </a:tc>
                <a:tc>
                  <a:txBody>
                    <a:bodyPr/>
                    <a:lstStyle/>
                    <a:p>
                      <a:pPr>
                        <a:defRPr sz="900">
                          <a:solidFill>
                            <a:srgbClr val="E2E8F0"/>
                          </a:solidFill>
                        </a:defRPr>
                      </a:pPr>
                      <a:r>
                        <a:t>2 (guest)</a:t>
                      </a:r>
                    </a:p>
                  </a:txBody>
                  <a:tcPr>
                    <a:solidFill>
                      <a:srgbClr val="182234"/>
                    </a:solidFill>
                  </a:tcPr>
                </a:tc>
                <a:tc>
                  <a:txBody>
                    <a:bodyPr/>
                    <a:lstStyle/>
                    <a:p>
                      <a:pPr>
                        <a:defRPr sz="900">
                          <a:solidFill>
                            <a:srgbClr val="E2E8F0"/>
                          </a:solidFill>
                        </a:defRPr>
                      </a:pPr>
                      <a:r>
                        <a:t>1 (AI Hackathon)</a:t>
                      </a:r>
                    </a:p>
                  </a:txBody>
                  <a:tcPr>
                    <a:solidFill>
                      <a:srgbClr val="182234"/>
                    </a:solidFill>
                  </a:tcPr>
                </a:tc>
                <a:tc>
                  <a:txBody>
                    <a:bodyPr/>
                    <a:lstStyle/>
                    <a:p>
                      <a:pPr>
                        <a:defRPr sz="900">
                          <a:solidFill>
                            <a:srgbClr val="E2E8F0"/>
                          </a:solidFill>
                        </a:defRPr>
                      </a:pPr>
                      <a:r>
                        <a:t>2026-09-08 14:30:12</a:t>
                      </a:r>
                    </a:p>
                  </a:txBody>
                  <a:tcPr>
                    <a:solidFill>
                      <a:srgbClr val="182234"/>
                    </a:solidFill>
                  </a:tcPr>
                </a:tc>
                <a:tc>
                  <a:txBody>
                    <a:bodyPr/>
                    <a:lstStyle/>
                    <a:p>
                      <a:pPr>
                        <a:defRPr sz="900">
                          <a:solidFill>
                            <a:srgbClr val="E2E8F0"/>
                          </a:solidFill>
                        </a:defRPr>
                      </a:pPr>
                      <a:r>
                        <a:t>INTERESTED</a:t>
                      </a:r>
                    </a:p>
                  </a:txBody>
                  <a:tcPr>
                    <a:solidFill>
                      <a:srgbClr val="182234"/>
                    </a:solidFill>
                  </a:tcPr>
                </a:tc>
              </a:tr>
              <a:tr h="320040">
                <a:tc>
                  <a:txBody>
                    <a:bodyPr/>
                    <a:lstStyle/>
                    <a:p>
                      <a:pPr>
                        <a:defRPr sz="900">
                          <a:solidFill>
                            <a:srgbClr val="E2E8F0"/>
                          </a:solidFill>
                        </a:defRPr>
                      </a:pPr>
                      <a:r>
                        <a:t>2</a:t>
                      </a:r>
                    </a:p>
                  </a:txBody>
                  <a:tcPr>
                    <a:solidFill>
                      <a:srgbClr val="121A28"/>
                    </a:solidFill>
                  </a:tcPr>
                </a:tc>
                <a:tc>
                  <a:txBody>
                    <a:bodyPr/>
                    <a:lstStyle/>
                    <a:p>
                      <a:pPr>
                        <a:defRPr sz="900">
                          <a:solidFill>
                            <a:srgbClr val="E2E8F0"/>
                          </a:solidFill>
                        </a:defRPr>
                      </a:pPr>
                      <a:r>
                        <a:t>2 (guest)</a:t>
                      </a:r>
                    </a:p>
                  </a:txBody>
                  <a:tcPr>
                    <a:solidFill>
                      <a:srgbClr val="121A28"/>
                    </a:solidFill>
                  </a:tcPr>
                </a:tc>
                <a:tc>
                  <a:txBody>
                    <a:bodyPr/>
                    <a:lstStyle/>
                    <a:p>
                      <a:pPr>
                        <a:defRPr sz="900">
                          <a:solidFill>
                            <a:srgbClr val="E2E8F0"/>
                          </a:solidFill>
                        </a:defRPr>
                      </a:pPr>
                      <a:r>
                        <a:t>2 (Spring Gala)</a:t>
                      </a:r>
                    </a:p>
                  </a:txBody>
                  <a:tcPr>
                    <a:solidFill>
                      <a:srgbClr val="121A28"/>
                    </a:solidFill>
                  </a:tcPr>
                </a:tc>
                <a:tc>
                  <a:txBody>
                    <a:bodyPr/>
                    <a:lstStyle/>
                    <a:p>
                      <a:pPr>
                        <a:defRPr sz="900">
                          <a:solidFill>
                            <a:srgbClr val="E2E8F0"/>
                          </a:solidFill>
                        </a:defRPr>
                      </a:pPr>
                      <a:r>
                        <a:t>2026-09-08 15:45:00</a:t>
                      </a:r>
                    </a:p>
                  </a:txBody>
                  <a:tcPr>
                    <a:solidFill>
                      <a:srgbClr val="121A28"/>
                    </a:solidFill>
                  </a:tcPr>
                </a:tc>
                <a:tc>
                  <a:txBody>
                    <a:bodyPr/>
                    <a:lstStyle/>
                    <a:p>
                      <a:pPr>
                        <a:defRPr sz="900">
                          <a:solidFill>
                            <a:srgbClr val="E2E8F0"/>
                          </a:solidFill>
                        </a:defRPr>
                      </a:pPr>
                      <a:r>
                        <a:t>INTERESTED</a:t>
                      </a:r>
                    </a:p>
                  </a:txBody>
                  <a:tcPr>
                    <a:solidFill>
                      <a:srgbClr val="121A28"/>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82234"/>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6B6D4"/>
                </a:solidFill>
                <a:latin typeface="Arial"/>
              </a:defRPr>
            </a:pPr>
            <a:r>
              <a:t>PROGRESS ASSESSMENT</a:t>
            </a:r>
          </a:p>
        </p:txBody>
      </p:sp>
      <p:sp>
        <p:nvSpPr>
          <p:cNvPr id="4" name="TextBox 3"/>
          <p:cNvSpPr txBox="1"/>
          <p:nvPr/>
        </p:nvSpPr>
        <p:spPr>
          <a:xfrm>
            <a:off x="731520" y="731520"/>
            <a:ext cx="10728655" cy="777240"/>
          </a:xfrm>
          <a:prstGeom prst="rect">
            <a:avLst/>
          </a:prstGeom>
          <a:noFill/>
        </p:spPr>
        <p:txBody>
          <a:bodyPr wrap="square" lIns="0" tIns="0" rIns="0" bIns="0">
            <a:spAutoFit/>
          </a:bodyPr>
          <a:lstStyle/>
          <a:p>
            <a:pPr>
              <a:defRPr sz="3000" b="1">
                <a:solidFill>
                  <a:srgbClr val="FFFFFF"/>
                </a:solidFill>
                <a:latin typeface="Arial"/>
              </a:defRPr>
            </a:pPr>
            <a:r>
              <a:t>Current Progress &amp; Verification Status</a:t>
            </a:r>
          </a:p>
          <a:p>
            <a:pPr>
              <a:spcBef>
                <a:spcPts val="300"/>
              </a:spcBef>
              <a:defRPr sz="1500">
                <a:solidFill>
                  <a:srgbClr val="94A3B8"/>
                </a:solidFill>
                <a:latin typeface="Arial"/>
              </a:defRPr>
            </a:pPr>
            <a:r>
              <a:t>85% of core platform completed; automated test suite and CI pipeline fully passing</a:t>
            </a:r>
          </a:p>
        </p:txBody>
      </p:sp>
      <p:sp>
        <p:nvSpPr>
          <p:cNvPr id="5" name="Rounded Rectangle 4"/>
          <p:cNvSpPr/>
          <p:nvPr/>
        </p:nvSpPr>
        <p:spPr>
          <a:xfrm>
            <a:off x="731520" y="1737360"/>
            <a:ext cx="5486400" cy="457200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937760" cy="4206240"/>
          </a:xfrm>
          <a:prstGeom prst="rect">
            <a:avLst/>
          </a:prstGeom>
          <a:noFill/>
        </p:spPr>
        <p:txBody>
          <a:bodyPr wrap="square">
            <a:spAutoFit/>
          </a:bodyPr>
          <a:lstStyle/>
          <a:p>
            <a:pPr>
              <a:defRPr sz="2100" b="1">
                <a:solidFill>
                  <a:srgbClr val="10B981"/>
                </a:solidFill>
              </a:defRPr>
            </a:pPr>
            <a:r>
              <a:t>Implementation Checklist</a:t>
            </a:r>
          </a:p>
          <a:p>
            <a:pPr>
              <a:spcBef>
                <a:spcPts val="1000"/>
              </a:spcBef>
            </a:pPr>
            <a:r>
              <a:rPr b="1" sz="1500">
                <a:solidFill>
                  <a:srgbClr val="FFFFFF"/>
                </a:solidFill>
              </a:rPr>
              <a:t>✅ Modular Monolith Architecture: </a:t>
            </a:r>
            <a:r>
              <a:rPr sz="1400">
                <a:solidFill>
                  <a:srgbClr val="E2E8F0"/>
                </a:solidFill>
              </a:rPr>
              <a:t>Spring Boot 4 + Java 25 runtime cleanly configured.</a:t>
            </a:r>
          </a:p>
          <a:p>
            <a:pPr>
              <a:spcBef>
                <a:spcPts val="1000"/>
              </a:spcBef>
            </a:pPr>
            <a:r>
              <a:rPr b="1" sz="1500">
                <a:solidFill>
                  <a:srgbClr val="FFFFFF"/>
                </a:solidFill>
              </a:rPr>
              <a:t>✅ Database Schema &amp; Migrations: </a:t>
            </a:r>
            <a:r>
              <a:rPr sz="1400">
                <a:solidFill>
                  <a:srgbClr val="E2E8F0"/>
                </a:solidFill>
              </a:rPr>
              <a:t>Flyway V1–V3 fully deployed on MySQL 8.4 LTS.</a:t>
            </a:r>
          </a:p>
          <a:p>
            <a:pPr>
              <a:spcBef>
                <a:spcPts val="1000"/>
              </a:spcBef>
            </a:pPr>
            <a:r>
              <a:rPr b="1" sz="1500">
                <a:solidFill>
                  <a:srgbClr val="FFFFFF"/>
                </a:solidFill>
              </a:rPr>
              <a:t>✅ Security &amp; Rate Limiting: </a:t>
            </a:r>
            <a:r>
              <a:rPr sz="1400">
                <a:solidFill>
                  <a:srgbClr val="E2E8F0"/>
                </a:solidFill>
              </a:rPr>
              <a:t>BCrypt, CSRF, and Bucket4j IP filters active.</a:t>
            </a:r>
          </a:p>
          <a:p>
            <a:pPr>
              <a:spcBef>
                <a:spcPts val="1000"/>
              </a:spcBef>
            </a:pPr>
            <a:r>
              <a:rPr b="1" sz="1500">
                <a:solidFill>
                  <a:srgbClr val="FFFFFF"/>
                </a:solidFill>
              </a:rPr>
              <a:t>✅ Frontend Surfaces: </a:t>
            </a:r>
            <a:r>
              <a:rPr sz="1400">
                <a:solidFill>
                  <a:srgbClr val="E2E8F0"/>
                </a:solidFill>
              </a:rPr>
              <a:t>Student Discovery Feed, Admin Console, and Forms operational.</a:t>
            </a:r>
          </a:p>
          <a:p>
            <a:pPr>
              <a:spcBef>
                <a:spcPts val="1000"/>
              </a:spcBef>
            </a:pPr>
            <a:r>
              <a:rPr b="1" sz="1500">
                <a:solidFill>
                  <a:srgbClr val="FFFFFF"/>
                </a:solidFill>
              </a:rPr>
              <a:t>✅ Automated Testing Suite: </a:t>
            </a:r>
            <a:r>
              <a:rPr sz="1400">
                <a:solidFill>
                  <a:srgbClr val="E2E8F0"/>
                </a:solidFill>
              </a:rPr>
              <a:t>63 unit and integration tests passing with JaCoCo coverage gates.</a:t>
            </a:r>
          </a:p>
          <a:p>
            <a:pPr>
              <a:spcBef>
                <a:spcPts val="1000"/>
              </a:spcBef>
            </a:pPr>
            <a:r>
              <a:rPr b="1" sz="1500">
                <a:solidFill>
                  <a:srgbClr val="FFFFFF"/>
                </a:solidFill>
              </a:rPr>
              <a:t>✅ Automated CI Pipeline: </a:t>
            </a:r>
            <a:r>
              <a:rPr sz="1400">
                <a:solidFill>
                  <a:srgbClr val="E2E8F0"/>
                </a:solidFill>
              </a:rPr>
              <a:t>GitHub Actions build and verify on every push.</a:t>
            </a:r>
          </a:p>
        </p:txBody>
      </p:sp>
      <p:sp>
        <p:nvSpPr>
          <p:cNvPr id="7" name="Rounded Rectangle 6"/>
          <p:cNvSpPr/>
          <p:nvPr/>
        </p:nvSpPr>
        <p:spPr>
          <a:xfrm>
            <a:off x="6492240" y="1737360"/>
            <a:ext cx="4967935" cy="457200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0" y="1920240"/>
            <a:ext cx="4419295" cy="4206240"/>
          </a:xfrm>
          <a:prstGeom prst="rect">
            <a:avLst/>
          </a:prstGeom>
          <a:noFill/>
        </p:spPr>
        <p:txBody>
          <a:bodyPr wrap="square">
            <a:spAutoFit/>
          </a:bodyPr>
          <a:lstStyle/>
          <a:p>
            <a:pPr>
              <a:defRPr sz="2100" b="1">
                <a:solidFill>
                  <a:srgbClr val="06B6D4"/>
                </a:solidFill>
              </a:defRPr>
            </a:pPr>
            <a:r>
              <a:t>Quality &amp; Verification Metrics</a:t>
            </a:r>
          </a:p>
          <a:p>
            <a:pPr>
              <a:spcBef>
                <a:spcPts val="1000"/>
              </a:spcBef>
            </a:pPr>
            <a:r>
              <a:rPr b="1" sz="1500">
                <a:solidFill>
                  <a:srgbClr val="FFFFFF"/>
                </a:solidFill>
              </a:rPr>
              <a:t>• Automated Test Suite: </a:t>
            </a:r>
            <a:r>
              <a:rPr sz="1400">
                <a:solidFill>
                  <a:srgbClr val="E2E8F0"/>
                </a:solidFill>
              </a:rPr>
              <a:t>63 / 63 tests passing (Surefire 3.5.4) covering controllers, services, locking, and security.</a:t>
            </a:r>
          </a:p>
          <a:p>
            <a:pPr>
              <a:spcBef>
                <a:spcPts val="1000"/>
              </a:spcBef>
            </a:pPr>
            <a:r>
              <a:rPr b="1" sz="1500">
                <a:solidFill>
                  <a:srgbClr val="FFFFFF"/>
                </a:solidFill>
              </a:rPr>
              <a:t>• Code Coverage Gates: </a:t>
            </a:r>
            <a:r>
              <a:rPr sz="1400">
                <a:solidFill>
                  <a:srgbClr val="E2E8F0"/>
                </a:solidFill>
              </a:rPr>
              <a:t>Strict JaCoCo line and branch coverage gates enforced in CI.</a:t>
            </a:r>
          </a:p>
          <a:p>
            <a:pPr>
              <a:spcBef>
                <a:spcPts val="1000"/>
              </a:spcBef>
            </a:pPr>
            <a:r>
              <a:rPr b="1" sz="1500">
                <a:solidFill>
                  <a:srgbClr val="FFFFFF"/>
                </a:solidFill>
              </a:rPr>
              <a:t>• Health Probes: </a:t>
            </a:r>
            <a:r>
              <a:rPr sz="1400">
                <a:solidFill>
                  <a:srgbClr val="E2E8F0"/>
                </a:solidFill>
              </a:rPr>
              <a:t>Spring Actuator `/actuator/health` endpoint responding with UP status.</a:t>
            </a:r>
          </a:p>
          <a:p>
            <a:pPr>
              <a:spcBef>
                <a:spcPts val="1000"/>
              </a:spcBef>
            </a:pPr>
            <a:r>
              <a:rPr b="1" sz="1500">
                <a:solidFill>
                  <a:srgbClr val="FFFFFF"/>
                </a:solidFill>
              </a:rPr>
              <a:t>• OpenAPI Documentation: </a:t>
            </a:r>
            <a:r>
              <a:rPr sz="1400">
                <a:solidFill>
                  <a:srgbClr val="E2E8F0"/>
                </a:solidFill>
              </a:rPr>
              <a:t>Generated OpenAPI 3.0 specification active at `/v3/api-docs`.</a:t>
            </a:r>
          </a:p>
          <a:p>
            <a:pPr>
              <a:spcBef>
                <a:spcPts val="1000"/>
              </a:spcBef>
            </a:pPr>
            <a:r>
              <a:rPr b="1" sz="1500">
                <a:solidFill>
                  <a:srgbClr val="FFFFFF"/>
                </a:solidFill>
              </a:rPr>
              <a:t>• Containerization: </a:t>
            </a:r>
            <a:r>
              <a:rPr sz="1400">
                <a:solidFill>
                  <a:srgbClr val="E2E8F0"/>
                </a:solidFill>
              </a:rPr>
              <a:t>Non-root Dockerfile and Docker Compose stack verified locally.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82234"/>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6B6D4"/>
                </a:solidFill>
                <a:latin typeface="Arial"/>
              </a:defRPr>
            </a:pPr>
            <a:r>
              <a:t>ENGINEERING RESOLUTIONS</a:t>
            </a:r>
          </a:p>
        </p:txBody>
      </p:sp>
      <p:sp>
        <p:nvSpPr>
          <p:cNvPr id="4" name="TextBox 3"/>
          <p:cNvSpPr txBox="1"/>
          <p:nvPr/>
        </p:nvSpPr>
        <p:spPr>
          <a:xfrm>
            <a:off x="731520" y="731520"/>
            <a:ext cx="10728655" cy="777240"/>
          </a:xfrm>
          <a:prstGeom prst="rect">
            <a:avLst/>
          </a:prstGeom>
          <a:noFill/>
        </p:spPr>
        <p:txBody>
          <a:bodyPr wrap="square" lIns="0" tIns="0" rIns="0" bIns="0">
            <a:spAutoFit/>
          </a:bodyPr>
          <a:lstStyle/>
          <a:p>
            <a:pPr>
              <a:defRPr sz="3000" b="1">
                <a:solidFill>
                  <a:srgbClr val="FFFFFF"/>
                </a:solidFill>
                <a:latin typeface="Arial"/>
              </a:defRPr>
            </a:pPr>
            <a:r>
              <a:t>Challenges Faced &amp; Technical Solutions</a:t>
            </a:r>
          </a:p>
          <a:p>
            <a:pPr>
              <a:spcBef>
                <a:spcPts val="300"/>
              </a:spcBef>
              <a:defRPr sz="1500">
                <a:solidFill>
                  <a:srgbClr val="94A3B8"/>
                </a:solidFill>
                <a:latin typeface="Arial"/>
              </a:defRPr>
            </a:pPr>
            <a:r>
              <a:t>Obstacles encountered during development and our technical remediations</a:t>
            </a:r>
          </a:p>
        </p:txBody>
      </p:sp>
      <p:sp>
        <p:nvSpPr>
          <p:cNvPr id="5" name="Rounded Rectangle 4"/>
          <p:cNvSpPr/>
          <p:nvPr/>
        </p:nvSpPr>
        <p:spPr>
          <a:xfrm>
            <a:off x="731520" y="1737360"/>
            <a:ext cx="5120640" cy="224028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01952"/>
            <a:ext cx="4663440" cy="1920240"/>
          </a:xfrm>
          <a:prstGeom prst="rect">
            <a:avLst/>
          </a:prstGeom>
          <a:noFill/>
        </p:spPr>
        <p:txBody>
          <a:bodyPr wrap="square">
            <a:spAutoFit/>
          </a:bodyPr>
          <a:lstStyle/>
          <a:p>
            <a:pPr>
              <a:defRPr sz="1700" b="1">
                <a:solidFill>
                  <a:srgbClr val="EC4899"/>
                </a:solidFill>
              </a:defRPr>
            </a:pPr>
            <a:r>
              <a:t>1. Concurrent Interest Race Condition</a:t>
            </a:r>
          </a:p>
          <a:p>
            <a:pPr>
              <a:spcBef>
                <a:spcPts val="600"/>
              </a:spcBef>
            </a:pPr>
            <a:r>
              <a:rPr b="1" sz="1400">
                <a:solidFill>
                  <a:srgbClr val="FFFFFF"/>
                </a:solidFill>
              </a:rPr>
              <a:t>• Problem: </a:t>
            </a:r>
            <a:r>
              <a:rPr sz="1300">
                <a:solidFill>
                  <a:srgbClr val="E2E8F0"/>
                </a:solidFill>
              </a:rPr>
              <a:t>Under rapid concurrent user requests, multiple threads could pass the duplicate check simultaneously, causing duplicate DB rows or transaction collisions.</a:t>
            </a:r>
          </a:p>
          <a:p>
            <a:pPr>
              <a:spcBef>
                <a:spcPts val="600"/>
              </a:spcBef>
            </a:pPr>
            <a:r>
              <a:rPr b="1" sz="1400">
                <a:solidFill>
                  <a:srgbClr val="FFFFFF"/>
                </a:solidFill>
              </a:rPr>
              <a:t>• Solution: </a:t>
            </a:r>
            <a:r>
              <a:rPr sz="1300">
                <a:solidFill>
                  <a:srgbClr val="E2E8F0"/>
                </a:solidFill>
              </a:rPr>
              <a:t>Applied JPA `PESSIMISTIC_WRITE` lock on the event entity row during registration in `EventService`, combined with a database-level `uk_user_event` unique constraint.</a:t>
            </a:r>
          </a:p>
        </p:txBody>
      </p:sp>
      <p:sp>
        <p:nvSpPr>
          <p:cNvPr id="7" name="Rounded Rectangle 6"/>
          <p:cNvSpPr/>
          <p:nvPr/>
        </p:nvSpPr>
        <p:spPr>
          <a:xfrm>
            <a:off x="6309360" y="1737360"/>
            <a:ext cx="5120640" cy="224028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901952"/>
            <a:ext cx="4663440" cy="1920240"/>
          </a:xfrm>
          <a:prstGeom prst="rect">
            <a:avLst/>
          </a:prstGeom>
          <a:noFill/>
        </p:spPr>
        <p:txBody>
          <a:bodyPr wrap="square">
            <a:spAutoFit/>
          </a:bodyPr>
          <a:lstStyle/>
          <a:p>
            <a:pPr>
              <a:defRPr sz="1700" b="1">
                <a:solidFill>
                  <a:srgbClr val="F59E0B"/>
                </a:solidFill>
              </a:defRPr>
            </a:pPr>
            <a:r>
              <a:t>2. Flyway 12 &amp; MySQL 8.4 Dialect Mismatch</a:t>
            </a:r>
          </a:p>
          <a:p>
            <a:pPr>
              <a:spcBef>
                <a:spcPts val="600"/>
              </a:spcBef>
            </a:pPr>
            <a:r>
              <a:rPr b="1" sz="1400">
                <a:solidFill>
                  <a:srgbClr val="FFFFFF"/>
                </a:solidFill>
              </a:rPr>
              <a:t>• Problem: </a:t>
            </a:r>
            <a:r>
              <a:rPr sz="1300">
                <a:solidFill>
                  <a:srgbClr val="E2E8F0"/>
                </a:solidFill>
              </a:rPr>
              <a:t>Upgrading to MySQL 8.4 LTS caused Flyway 12 to fail during startup because MySQL support was extracted from core Flyway into a separate module.</a:t>
            </a:r>
          </a:p>
          <a:p>
            <a:pPr>
              <a:spcBef>
                <a:spcPts val="600"/>
              </a:spcBef>
            </a:pPr>
            <a:r>
              <a:rPr b="1" sz="1400">
                <a:solidFill>
                  <a:srgbClr val="FFFFFF"/>
                </a:solidFill>
              </a:rPr>
              <a:t>• Solution: </a:t>
            </a:r>
            <a:r>
              <a:rPr sz="1300">
                <a:solidFill>
                  <a:srgbClr val="E2E8F0"/>
                </a:solidFill>
              </a:rPr>
              <a:t>Explicitly integrated `org.flywaydb:flyway-mysql:12.4.0` in `pom.xml`, restoring seamless schema migrations across local Docker and GitHub Actions CI.</a:t>
            </a:r>
          </a:p>
        </p:txBody>
      </p:sp>
      <p:sp>
        <p:nvSpPr>
          <p:cNvPr id="9" name="Rounded Rectangle 8"/>
          <p:cNvSpPr/>
          <p:nvPr/>
        </p:nvSpPr>
        <p:spPr>
          <a:xfrm>
            <a:off x="731520" y="4160520"/>
            <a:ext cx="5120640" cy="224028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325112"/>
            <a:ext cx="4663440" cy="1920240"/>
          </a:xfrm>
          <a:prstGeom prst="rect">
            <a:avLst/>
          </a:prstGeom>
          <a:noFill/>
        </p:spPr>
        <p:txBody>
          <a:bodyPr wrap="square">
            <a:spAutoFit/>
          </a:bodyPr>
          <a:lstStyle/>
          <a:p>
            <a:pPr>
              <a:defRPr sz="1700" b="1">
                <a:solidFill>
                  <a:srgbClr val="06B6D4"/>
                </a:solidFill>
              </a:defRPr>
            </a:pPr>
            <a:r>
              <a:t>3. Admin Secret Ingestion &amp; Zero-Trust</a:t>
            </a:r>
          </a:p>
          <a:p>
            <a:pPr>
              <a:spcBef>
                <a:spcPts val="600"/>
              </a:spcBef>
            </a:pPr>
            <a:r>
              <a:rPr b="1" sz="1400">
                <a:solidFill>
                  <a:srgbClr val="FFFFFF"/>
                </a:solidFill>
              </a:rPr>
              <a:t>• Problem: </a:t>
            </a:r>
            <a:r>
              <a:rPr sz="1300">
                <a:solidFill>
                  <a:srgbClr val="E2E8F0"/>
                </a:solidFill>
              </a:rPr>
              <a:t>Hardcoded admin credentials in application properties violate production security standards and invite repository leaks.</a:t>
            </a:r>
          </a:p>
          <a:p>
            <a:pPr>
              <a:spcBef>
                <a:spcPts val="600"/>
              </a:spcBef>
            </a:pPr>
            <a:r>
              <a:rPr b="1" sz="1400">
                <a:solidFill>
                  <a:srgbClr val="FFFFFF"/>
                </a:solidFill>
              </a:rPr>
              <a:t>• Solution: </a:t>
            </a:r>
            <a:r>
              <a:rPr sz="1300">
                <a:solidFill>
                  <a:srgbClr val="E2E8F0"/>
                </a:solidFill>
              </a:rPr>
              <a:t>Implemented environment-driven secret injection (`ADMIN_PASSWORD`), with an undisclosed 32-byte CSPRNG token generated on clean bootstrap if omitted.</a:t>
            </a:r>
          </a:p>
        </p:txBody>
      </p:sp>
      <p:sp>
        <p:nvSpPr>
          <p:cNvPr id="11" name="Rounded Rectangle 10"/>
          <p:cNvSpPr/>
          <p:nvPr/>
        </p:nvSpPr>
        <p:spPr>
          <a:xfrm>
            <a:off x="6309360" y="4160520"/>
            <a:ext cx="5120640" cy="224028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4325112"/>
            <a:ext cx="4663440" cy="1920240"/>
          </a:xfrm>
          <a:prstGeom prst="rect">
            <a:avLst/>
          </a:prstGeom>
          <a:noFill/>
        </p:spPr>
        <p:txBody>
          <a:bodyPr wrap="square">
            <a:spAutoFit/>
          </a:bodyPr>
          <a:lstStyle/>
          <a:p>
            <a:pPr>
              <a:defRPr sz="1700" b="1">
                <a:solidFill>
                  <a:srgbClr val="10B981"/>
                </a:solidFill>
              </a:defRPr>
            </a:pPr>
            <a:r>
              <a:t>4. Image Storage &amp; Deployment Portability</a:t>
            </a:r>
          </a:p>
          <a:p>
            <a:pPr>
              <a:spcBef>
                <a:spcPts val="600"/>
              </a:spcBef>
            </a:pPr>
            <a:r>
              <a:rPr b="1" sz="1400">
                <a:solidFill>
                  <a:srgbClr val="FFFFFF"/>
                </a:solidFill>
              </a:rPr>
              <a:t>• Problem: </a:t>
            </a:r>
            <a:r>
              <a:rPr sz="1300">
                <a:solidFill>
                  <a:srgbClr val="E2E8F0"/>
                </a:solidFill>
              </a:rPr>
              <a:t>Storing uploaded images on local disk volumes makes container deployment fragile across ephemeral container restarts.</a:t>
            </a:r>
          </a:p>
          <a:p>
            <a:pPr>
              <a:spcBef>
                <a:spcPts val="600"/>
              </a:spcBef>
            </a:pPr>
            <a:r>
              <a:rPr b="1" sz="1400">
                <a:solidFill>
                  <a:srgbClr val="FFFFFF"/>
                </a:solidFill>
              </a:rPr>
              <a:t>• Solution: </a:t>
            </a:r>
            <a:r>
              <a:rPr sz="1300">
                <a:solidFill>
                  <a:srgbClr val="E2E8F0"/>
                </a:solidFill>
              </a:rPr>
              <a:t>Engineered database-backed `MEDIUMBLOB` persistence with MIME-type validation, ensuring complete image durability inside the MySQL tier.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82234"/>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6B6D4"/>
                </a:solidFill>
                <a:latin typeface="Arial"/>
              </a:defRPr>
            </a:pPr>
            <a:r>
              <a:t>CONCLUSION &amp; ROADMAP</a:t>
            </a:r>
          </a:p>
        </p:txBody>
      </p:sp>
      <p:sp>
        <p:nvSpPr>
          <p:cNvPr id="4" name="TextBox 3"/>
          <p:cNvSpPr txBox="1"/>
          <p:nvPr/>
        </p:nvSpPr>
        <p:spPr>
          <a:xfrm>
            <a:off x="731520" y="731520"/>
            <a:ext cx="10728655" cy="777240"/>
          </a:xfrm>
          <a:prstGeom prst="rect">
            <a:avLst/>
          </a:prstGeom>
          <a:noFill/>
        </p:spPr>
        <p:txBody>
          <a:bodyPr wrap="square" lIns="0" tIns="0" rIns="0" bIns="0">
            <a:spAutoFit/>
          </a:bodyPr>
          <a:lstStyle/>
          <a:p>
            <a:pPr>
              <a:defRPr sz="3000" b="1">
                <a:solidFill>
                  <a:srgbClr val="FFFFFF"/>
                </a:solidFill>
                <a:latin typeface="Arial"/>
              </a:defRPr>
            </a:pPr>
            <a:r>
              <a:t>Future Work &amp; Project Conclusion</a:t>
            </a:r>
          </a:p>
          <a:p>
            <a:pPr>
              <a:spcBef>
                <a:spcPts val="300"/>
              </a:spcBef>
              <a:defRPr sz="1500">
                <a:solidFill>
                  <a:srgbClr val="94A3B8"/>
                </a:solidFill>
                <a:latin typeface="Arial"/>
              </a:defRPr>
            </a:pPr>
            <a:r>
              <a:t>Sprint 3 milestones, planned distributed enhancements, and final project takeaways</a:t>
            </a:r>
          </a:p>
        </p:txBody>
      </p:sp>
      <p:sp>
        <p:nvSpPr>
          <p:cNvPr id="5" name="Rounded Rectangle 4"/>
          <p:cNvSpPr/>
          <p:nvPr/>
        </p:nvSpPr>
        <p:spPr>
          <a:xfrm>
            <a:off x="731520" y="1737360"/>
            <a:ext cx="5120640" cy="457200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206240"/>
          </a:xfrm>
          <a:prstGeom prst="rect">
            <a:avLst/>
          </a:prstGeom>
          <a:noFill/>
        </p:spPr>
        <p:txBody>
          <a:bodyPr wrap="square">
            <a:spAutoFit/>
          </a:bodyPr>
          <a:lstStyle/>
          <a:p>
            <a:pPr>
              <a:defRPr sz="2100" b="1">
                <a:solidFill>
                  <a:srgbClr val="6366F1"/>
                </a:solidFill>
              </a:defRPr>
            </a:pPr>
            <a:r>
              <a:t>Future Work (Sprint 3 Roadmap)</a:t>
            </a:r>
          </a:p>
          <a:p>
            <a:pPr>
              <a:spcBef>
                <a:spcPts val="1000"/>
              </a:spcBef>
            </a:pPr>
            <a:r>
              <a:rPr b="1" sz="1500">
                <a:solidFill>
                  <a:srgbClr val="FFFFFF"/>
                </a:solidFill>
              </a:rPr>
              <a:t>• Internal Seat Ticketing State Machine: </a:t>
            </a:r>
            <a:r>
              <a:rPr sz="1400">
                <a:solidFill>
                  <a:srgbClr val="E2E8F0"/>
                </a:solidFill>
              </a:rPr>
              <a:t>Transition from interest registration to internal capacity reservations with real-time waitlists.</a:t>
            </a:r>
          </a:p>
          <a:p>
            <a:pPr>
              <a:spcBef>
                <a:spcPts val="1000"/>
              </a:spcBef>
            </a:pPr>
            <a:r>
              <a:rPr b="1" sz="1500">
                <a:solidFill>
                  <a:srgbClr val="FFFFFF"/>
                </a:solidFill>
              </a:rPr>
              <a:t>• Asynchronous Event Notifications: </a:t>
            </a:r>
            <a:r>
              <a:rPr sz="1400">
                <a:solidFill>
                  <a:srgbClr val="E2E8F0"/>
                </a:solidFill>
              </a:rPr>
              <a:t>Implement transactional Outbox pattern with RabbitMQ or Kafka for event updates and email reminders.</a:t>
            </a:r>
          </a:p>
          <a:p>
            <a:pPr>
              <a:spcBef>
                <a:spcPts val="1000"/>
              </a:spcBef>
            </a:pPr>
            <a:r>
              <a:rPr b="1" sz="1500">
                <a:solidFill>
                  <a:srgbClr val="FFFFFF"/>
                </a:solidFill>
              </a:rPr>
              <a:t>• Semantic Vector Search: </a:t>
            </a:r>
            <a:r>
              <a:rPr sz="1400">
                <a:solidFill>
                  <a:srgbClr val="E2E8F0"/>
                </a:solidFill>
              </a:rPr>
              <a:t>Integrate pgvector or embedding adapters for intelligent semantic event matching across student interests.</a:t>
            </a:r>
          </a:p>
          <a:p>
            <a:pPr>
              <a:spcBef>
                <a:spcPts val="1000"/>
              </a:spcBef>
            </a:pPr>
            <a:r>
              <a:rPr b="1" sz="1500">
                <a:solidFill>
                  <a:srgbClr val="FFFFFF"/>
                </a:solidFill>
              </a:rPr>
              <a:t>• Mobile PWA Client: </a:t>
            </a:r>
            <a:r>
              <a:rPr sz="1400">
                <a:solidFill>
                  <a:srgbClr val="E2E8F0"/>
                </a:solidFill>
              </a:rPr>
              <a:t>Package offline-first Progressive Web App capabilities for fast mobile discovery.</a:t>
            </a:r>
          </a:p>
        </p:txBody>
      </p:sp>
      <p:sp>
        <p:nvSpPr>
          <p:cNvPr id="7" name="Rounded Rectangle 6"/>
          <p:cNvSpPr/>
          <p:nvPr/>
        </p:nvSpPr>
        <p:spPr>
          <a:xfrm>
            <a:off x="6309360" y="1737360"/>
            <a:ext cx="5120640" cy="4572000"/>
          </a:xfrm>
          <a:prstGeom prst="roundRect">
            <a:avLst/>
          </a:prstGeom>
          <a:solidFill>
            <a:srgbClr val="18223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206240"/>
          </a:xfrm>
          <a:prstGeom prst="rect">
            <a:avLst/>
          </a:prstGeom>
          <a:noFill/>
        </p:spPr>
        <p:txBody>
          <a:bodyPr wrap="square">
            <a:spAutoFit/>
          </a:bodyPr>
          <a:lstStyle/>
          <a:p>
            <a:pPr>
              <a:defRPr sz="2100" b="1">
                <a:solidFill>
                  <a:srgbClr val="10B981"/>
                </a:solidFill>
              </a:defRPr>
            </a:pPr>
            <a:r>
              <a:t>Review 2 Concluding Summary</a:t>
            </a:r>
          </a:p>
          <a:p>
            <a:pPr>
              <a:spcBef>
                <a:spcPts val="1000"/>
              </a:spcBef>
            </a:pPr>
            <a:r>
              <a:rPr b="1" sz="1500">
                <a:solidFill>
                  <a:srgbClr val="FFFFFF"/>
                </a:solidFill>
              </a:rPr>
              <a:t>• Working Production-Ready Foundation: </a:t>
            </a:r>
            <a:r>
              <a:rPr sz="1400">
                <a:solidFill>
                  <a:srgbClr val="E2E8F0"/>
                </a:solidFill>
              </a:rPr>
              <a:t>CampusConnect delivers an operational modular monolith with high-performance event discovery and secure administration.</a:t>
            </a:r>
          </a:p>
          <a:p>
            <a:pPr>
              <a:spcBef>
                <a:spcPts val="1000"/>
              </a:spcBef>
            </a:pPr>
            <a:r>
              <a:rPr b="1" sz="1500">
                <a:solidFill>
                  <a:srgbClr val="FFFFFF"/>
                </a:solidFill>
              </a:rPr>
              <a:t>• Verified Relational Engineering: </a:t>
            </a:r>
            <a:r>
              <a:rPr sz="1400">
                <a:solidFill>
                  <a:srgbClr val="E2E8F0"/>
                </a:solidFill>
              </a:rPr>
              <a:t>3NF schema, Flyway V1–V3 migrations, and pessimistic concurrency locks provide enterprise-grade reliability.</a:t>
            </a:r>
          </a:p>
          <a:p>
            <a:pPr>
              <a:spcBef>
                <a:spcPts val="1000"/>
              </a:spcBef>
            </a:pPr>
            <a:r>
              <a:rPr b="1" sz="1500">
                <a:solidFill>
                  <a:srgbClr val="FFFFFF"/>
                </a:solidFill>
              </a:rPr>
              <a:t>• Rigorous Quality Assurance: </a:t>
            </a:r>
            <a:r>
              <a:rPr sz="1400">
                <a:solidFill>
                  <a:srgbClr val="E2E8F0"/>
                </a:solidFill>
              </a:rPr>
              <a:t>63 passing automated tests and automated GitHub Actions CI ensure zero-regression stability.</a:t>
            </a:r>
          </a:p>
          <a:p>
            <a:pPr>
              <a:spcBef>
                <a:spcPts val="1000"/>
              </a:spcBef>
            </a:pPr>
            <a:r>
              <a:rPr b="1" sz="1500">
                <a:solidFill>
                  <a:srgbClr val="FFFFFF"/>
                </a:solidFill>
              </a:rPr>
              <a:t>• Clear Evolutionary Path: </a:t>
            </a:r>
            <a:r>
              <a:rPr sz="1400">
                <a:solidFill>
                  <a:srgbClr val="E2E8F0"/>
                </a:solidFill>
              </a:rPr>
              <a:t>Architectural boundaries are cleanly established for future distributed messaging and microservice extraction.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